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365" r:id="rId4"/>
    <p:sldId id="364" r:id="rId5"/>
    <p:sldId id="366" r:id="rId6"/>
    <p:sldId id="392" r:id="rId7"/>
    <p:sldId id="367" r:id="rId8"/>
    <p:sldId id="369" r:id="rId9"/>
    <p:sldId id="378" r:id="rId10"/>
    <p:sldId id="391" r:id="rId11"/>
    <p:sldId id="399" r:id="rId12"/>
    <p:sldId id="371" r:id="rId13"/>
    <p:sldId id="398" r:id="rId14"/>
    <p:sldId id="258" r:id="rId15"/>
    <p:sldId id="259" r:id="rId16"/>
    <p:sldId id="261" r:id="rId17"/>
    <p:sldId id="262" r:id="rId18"/>
    <p:sldId id="370" r:id="rId19"/>
    <p:sldId id="372" r:id="rId20"/>
    <p:sldId id="263" r:id="rId21"/>
    <p:sldId id="373" r:id="rId22"/>
    <p:sldId id="374" r:id="rId23"/>
    <p:sldId id="375" r:id="rId24"/>
    <p:sldId id="376" r:id="rId25"/>
    <p:sldId id="377" r:id="rId26"/>
    <p:sldId id="379" r:id="rId27"/>
    <p:sldId id="264" r:id="rId28"/>
    <p:sldId id="380" r:id="rId29"/>
    <p:sldId id="381" r:id="rId30"/>
    <p:sldId id="382" r:id="rId31"/>
    <p:sldId id="265" r:id="rId32"/>
    <p:sldId id="387" r:id="rId33"/>
    <p:sldId id="266" r:id="rId34"/>
    <p:sldId id="383" r:id="rId35"/>
    <p:sldId id="384" r:id="rId36"/>
    <p:sldId id="385" r:id="rId37"/>
    <p:sldId id="386" r:id="rId38"/>
    <p:sldId id="388" r:id="rId39"/>
    <p:sldId id="389" r:id="rId40"/>
    <p:sldId id="390" r:id="rId41"/>
    <p:sldId id="267" r:id="rId42"/>
    <p:sldId id="268" r:id="rId43"/>
    <p:sldId id="269" r:id="rId44"/>
    <p:sldId id="270" r:id="rId45"/>
    <p:sldId id="356" r:id="rId46"/>
    <p:sldId id="272" r:id="rId47"/>
    <p:sldId id="393" r:id="rId48"/>
    <p:sldId id="368" r:id="rId49"/>
    <p:sldId id="396" r:id="rId50"/>
    <p:sldId id="400" r:id="rId51"/>
    <p:sldId id="394" r:id="rId52"/>
    <p:sldId id="395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issertation Proposal" id="{1C2621A1-EEDE-4235-8352-A81AE3E0E154}">
          <p14:sldIdLst>
            <p14:sldId id="256"/>
            <p14:sldId id="257"/>
            <p14:sldId id="365"/>
            <p14:sldId id="364"/>
            <p14:sldId id="366"/>
            <p14:sldId id="392"/>
            <p14:sldId id="367"/>
            <p14:sldId id="369"/>
            <p14:sldId id="378"/>
            <p14:sldId id="391"/>
            <p14:sldId id="399"/>
            <p14:sldId id="371"/>
            <p14:sldId id="398"/>
            <p14:sldId id="258"/>
            <p14:sldId id="259"/>
            <p14:sldId id="261"/>
            <p14:sldId id="262"/>
            <p14:sldId id="370"/>
            <p14:sldId id="372"/>
            <p14:sldId id="263"/>
            <p14:sldId id="373"/>
            <p14:sldId id="374"/>
            <p14:sldId id="375"/>
            <p14:sldId id="376"/>
            <p14:sldId id="377"/>
            <p14:sldId id="379"/>
            <p14:sldId id="264"/>
            <p14:sldId id="380"/>
            <p14:sldId id="381"/>
            <p14:sldId id="382"/>
            <p14:sldId id="265"/>
            <p14:sldId id="387"/>
            <p14:sldId id="266"/>
            <p14:sldId id="383"/>
            <p14:sldId id="384"/>
            <p14:sldId id="385"/>
            <p14:sldId id="386"/>
            <p14:sldId id="388"/>
            <p14:sldId id="389"/>
            <p14:sldId id="390"/>
            <p14:sldId id="267"/>
            <p14:sldId id="268"/>
            <p14:sldId id="269"/>
            <p14:sldId id="270"/>
            <p14:sldId id="356"/>
            <p14:sldId id="272"/>
            <p14:sldId id="393"/>
          </p14:sldIdLst>
        </p14:section>
        <p14:section name="Appendix" id="{4FEE8B7E-CA9E-4CD7-BFE0-56A4B441BFE7}">
          <p14:sldIdLst>
            <p14:sldId id="368"/>
            <p14:sldId id="396"/>
            <p14:sldId id="400"/>
            <p14:sldId id="394"/>
            <p14:sldId id="3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>
      <p:cViewPr>
        <p:scale>
          <a:sx n="100" d="100"/>
          <a:sy n="100" d="100"/>
        </p:scale>
        <p:origin x="725" y="-7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F01D5D-0CF3-460A-A129-6AD126377971}" type="doc">
      <dgm:prSet loTypeId="urn:microsoft.com/office/officeart/2008/layout/AlternatingHexagons" loCatId="list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6ACDB7C-2619-42DF-8A45-7BD7E384AAF0}">
      <dgm:prSet phldrT="[Text]" phldr="0"/>
      <dgm:spPr/>
      <dgm:t>
        <a:bodyPr/>
        <a:lstStyle/>
        <a:p>
          <a:r>
            <a:rPr lang="en-US" dirty="0"/>
            <a:t>Control Vs. Security</a:t>
          </a:r>
        </a:p>
      </dgm:t>
    </dgm:pt>
    <dgm:pt modelId="{676B1EB8-8FCF-49C4-A6EF-10677E1DA8DF}" type="parTrans" cxnId="{97876F48-D3EE-48F0-A974-980763FCACA9}">
      <dgm:prSet/>
      <dgm:spPr/>
      <dgm:t>
        <a:bodyPr/>
        <a:lstStyle/>
        <a:p>
          <a:endParaRPr lang="en-US"/>
        </a:p>
      </dgm:t>
    </dgm:pt>
    <dgm:pt modelId="{958C272B-7B04-40D2-AE2D-4075BF0DDA3B}" type="sibTrans" cxnId="{97876F48-D3EE-48F0-A974-980763FCACA9}">
      <dgm:prSet/>
      <dgm:spPr/>
      <dgm:t>
        <a:bodyPr/>
        <a:lstStyle/>
        <a:p>
          <a:endParaRPr lang="en-US"/>
        </a:p>
      </dgm:t>
    </dgm:pt>
    <dgm:pt modelId="{182C838F-6BFF-4EAE-AB91-107596009E68}">
      <dgm:prSet phldrT="[Text]"/>
      <dgm:spPr/>
      <dgm:t>
        <a:bodyPr/>
        <a:lstStyle/>
        <a:p>
          <a:pPr>
            <a:buNone/>
          </a:pPr>
          <a:r>
            <a:rPr lang="en-US" dirty="0"/>
            <a:t>Control engineers focus on stability and gain margins; security researchers focus on threat models. The interaction between controllers and security measures is rarely analyzed.</a:t>
          </a:r>
        </a:p>
      </dgm:t>
    </dgm:pt>
    <dgm:pt modelId="{1EF66743-9F4B-4471-8DDB-8B591806D67B}" type="parTrans" cxnId="{9F985856-27BB-4901-9E35-1DE854456F8F}">
      <dgm:prSet/>
      <dgm:spPr/>
      <dgm:t>
        <a:bodyPr/>
        <a:lstStyle/>
        <a:p>
          <a:endParaRPr lang="en-US"/>
        </a:p>
      </dgm:t>
    </dgm:pt>
    <dgm:pt modelId="{A26A648A-7FB5-4C56-80A3-F83F13AE67C2}" type="sibTrans" cxnId="{9F985856-27BB-4901-9E35-1DE854456F8F}">
      <dgm:prSet/>
      <dgm:spPr/>
      <dgm:t>
        <a:bodyPr/>
        <a:lstStyle/>
        <a:p>
          <a:endParaRPr lang="en-US"/>
        </a:p>
      </dgm:t>
    </dgm:pt>
    <dgm:pt modelId="{C6F2CBAA-548E-4330-8F34-4BE461BFC4EE}">
      <dgm:prSet phldrT="[Text]"/>
      <dgm:spPr/>
      <dgm:t>
        <a:bodyPr/>
        <a:lstStyle/>
        <a:p>
          <a:pPr>
            <a:buNone/>
          </a:pPr>
          <a:r>
            <a:rPr lang="en-US" b="1"/>
            <a:t>LLM Practicality</a:t>
          </a:r>
          <a:endParaRPr lang="en-US" dirty="0"/>
        </a:p>
      </dgm:t>
    </dgm:pt>
    <dgm:pt modelId="{A799C1C5-88D0-4F6E-AE48-883761ADE47C}" type="parTrans" cxnId="{64487CD5-96FB-44FE-AFD5-8889052B51D1}">
      <dgm:prSet/>
      <dgm:spPr/>
      <dgm:t>
        <a:bodyPr/>
        <a:lstStyle/>
        <a:p>
          <a:endParaRPr lang="en-US"/>
        </a:p>
      </dgm:t>
    </dgm:pt>
    <dgm:pt modelId="{A710A7BE-BD74-41CF-BF8D-EA995C4396F1}" type="sibTrans" cxnId="{64487CD5-96FB-44FE-AFD5-8889052B51D1}">
      <dgm:prSet/>
      <dgm:spPr/>
      <dgm:t>
        <a:bodyPr/>
        <a:lstStyle/>
        <a:p>
          <a:endParaRPr lang="en-US"/>
        </a:p>
      </dgm:t>
    </dgm:pt>
    <dgm:pt modelId="{C439BB23-00AC-455D-83C7-244A4C83C462}">
      <dgm:prSet phldrT="[Text]" phldr="0"/>
      <dgm:spPr/>
      <dgm:t>
        <a:bodyPr/>
        <a:lstStyle/>
        <a:p>
          <a:r>
            <a:rPr lang="en-US"/>
            <a:t>Data Gaps</a:t>
          </a:r>
          <a:endParaRPr lang="en-US" dirty="0"/>
        </a:p>
      </dgm:t>
    </dgm:pt>
    <dgm:pt modelId="{464913C1-AEF4-48E0-AA9A-61AC1AF10031}" type="parTrans" cxnId="{E7C06C6C-588A-4F92-98FC-FCB8C6E2A215}">
      <dgm:prSet/>
      <dgm:spPr/>
      <dgm:t>
        <a:bodyPr/>
        <a:lstStyle/>
        <a:p>
          <a:endParaRPr lang="en-US"/>
        </a:p>
      </dgm:t>
    </dgm:pt>
    <dgm:pt modelId="{0C18F65B-7385-40B7-8888-131E1011E7EB}" type="sibTrans" cxnId="{E7C06C6C-588A-4F92-98FC-FCB8C6E2A215}">
      <dgm:prSet/>
      <dgm:spPr/>
      <dgm:t>
        <a:bodyPr/>
        <a:lstStyle/>
        <a:p>
          <a:endParaRPr lang="en-US"/>
        </a:p>
      </dgm:t>
    </dgm:pt>
    <dgm:pt modelId="{14FF5CD9-324B-48E0-852D-9B5F589BDCE3}">
      <dgm:prSet/>
      <dgm:spPr/>
      <dgm:t>
        <a:bodyPr/>
        <a:lstStyle/>
        <a:p>
          <a:pPr>
            <a:buNone/>
          </a:pPr>
          <a:r>
            <a:rPr lang="en-US"/>
            <a:t>Most LLM applications for robotics are proofs of concept. Questions about latency, energy use, and resilience under attack remain wide open for real-time drone deployment.</a:t>
          </a:r>
        </a:p>
      </dgm:t>
    </dgm:pt>
    <dgm:pt modelId="{D96A8AAE-C0ED-40DD-8244-12CD4B6EF818}" type="parTrans" cxnId="{1A77B258-6C42-4C3A-84F3-0DA3E8DB7C95}">
      <dgm:prSet/>
      <dgm:spPr/>
      <dgm:t>
        <a:bodyPr/>
        <a:lstStyle/>
        <a:p>
          <a:endParaRPr lang="en-US"/>
        </a:p>
      </dgm:t>
    </dgm:pt>
    <dgm:pt modelId="{CA892739-9783-43E5-A2CA-4620B7D62098}" type="sibTrans" cxnId="{1A77B258-6C42-4C3A-84F3-0DA3E8DB7C95}">
      <dgm:prSet/>
      <dgm:spPr/>
      <dgm:t>
        <a:bodyPr/>
        <a:lstStyle/>
        <a:p>
          <a:endParaRPr lang="en-US"/>
        </a:p>
      </dgm:t>
    </dgm:pt>
    <dgm:pt modelId="{C8BA2BFF-4757-440A-8961-0529C3583B02}">
      <dgm:prSet/>
      <dgm:spPr/>
      <dgm:t>
        <a:bodyPr/>
        <a:lstStyle/>
        <a:p>
          <a:pPr>
            <a:buNone/>
          </a:pPr>
          <a:r>
            <a:rPr lang="en-US"/>
            <a:t>There is a lack of datasets combining flight telemetry, network traces, and annotated attacks, making it difficult to gauge robustness against adversaries.</a:t>
          </a:r>
        </a:p>
      </dgm:t>
    </dgm:pt>
    <dgm:pt modelId="{4C1E77F0-3A55-4B56-B596-3AD6EC6F1765}" type="parTrans" cxnId="{F647D669-FBA2-4414-BA4A-98450DFBF9DF}">
      <dgm:prSet/>
      <dgm:spPr/>
      <dgm:t>
        <a:bodyPr/>
        <a:lstStyle/>
        <a:p>
          <a:endParaRPr lang="en-US"/>
        </a:p>
      </dgm:t>
    </dgm:pt>
    <dgm:pt modelId="{CBF53D73-ED09-4958-9C8C-084231E9BD90}" type="sibTrans" cxnId="{F647D669-FBA2-4414-BA4A-98450DFBF9DF}">
      <dgm:prSet/>
      <dgm:spPr/>
      <dgm:t>
        <a:bodyPr/>
        <a:lstStyle/>
        <a:p>
          <a:endParaRPr lang="en-US"/>
        </a:p>
      </dgm:t>
    </dgm:pt>
    <dgm:pt modelId="{957FD047-0990-4B0F-818A-85271EC51781}" type="pres">
      <dgm:prSet presAssocID="{89F01D5D-0CF3-460A-A129-6AD126377971}" presName="Name0" presStyleCnt="0">
        <dgm:presLayoutVars>
          <dgm:chMax/>
          <dgm:chPref/>
          <dgm:dir/>
          <dgm:animLvl val="lvl"/>
        </dgm:presLayoutVars>
      </dgm:prSet>
      <dgm:spPr/>
    </dgm:pt>
    <dgm:pt modelId="{AFDCEA12-D045-4FE1-BC3B-0452F2A723A1}" type="pres">
      <dgm:prSet presAssocID="{A6ACDB7C-2619-42DF-8A45-7BD7E384AAF0}" presName="composite" presStyleCnt="0"/>
      <dgm:spPr/>
    </dgm:pt>
    <dgm:pt modelId="{ADC0440C-C679-4A55-8CF5-0E9772D8032D}" type="pres">
      <dgm:prSet presAssocID="{A6ACDB7C-2619-42DF-8A45-7BD7E384AAF0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0EA35F7C-9D12-4F68-A4E8-26E111180BF2}" type="pres">
      <dgm:prSet presAssocID="{A6ACDB7C-2619-42DF-8A45-7BD7E384AAF0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F6AEFA57-64FB-4B53-BFA2-A1DCBBD9B106}" type="pres">
      <dgm:prSet presAssocID="{A6ACDB7C-2619-42DF-8A45-7BD7E384AAF0}" presName="BalanceSpacing" presStyleCnt="0"/>
      <dgm:spPr/>
    </dgm:pt>
    <dgm:pt modelId="{D4AEFBD7-8BE0-4582-BA9A-88C15A1962AA}" type="pres">
      <dgm:prSet presAssocID="{A6ACDB7C-2619-42DF-8A45-7BD7E384AAF0}" presName="BalanceSpacing1" presStyleCnt="0"/>
      <dgm:spPr/>
    </dgm:pt>
    <dgm:pt modelId="{9830F7EB-7BB2-4AC4-99A4-8FE7411B1DD6}" type="pres">
      <dgm:prSet presAssocID="{958C272B-7B04-40D2-AE2D-4075BF0DDA3B}" presName="Accent1Text" presStyleLbl="node1" presStyleIdx="1" presStyleCnt="6"/>
      <dgm:spPr/>
    </dgm:pt>
    <dgm:pt modelId="{7F194882-1053-4C5E-8CCB-0849C238C6A3}" type="pres">
      <dgm:prSet presAssocID="{958C272B-7B04-40D2-AE2D-4075BF0DDA3B}" presName="spaceBetweenRectangles" presStyleCnt="0"/>
      <dgm:spPr/>
    </dgm:pt>
    <dgm:pt modelId="{2269F4D3-EAA1-4585-B1D6-335DDDDE06C7}" type="pres">
      <dgm:prSet presAssocID="{C6F2CBAA-548E-4330-8F34-4BE461BFC4EE}" presName="composite" presStyleCnt="0"/>
      <dgm:spPr/>
    </dgm:pt>
    <dgm:pt modelId="{42742A1E-812E-48D1-8CF4-F4D52ED5605E}" type="pres">
      <dgm:prSet presAssocID="{C6F2CBAA-548E-4330-8F34-4BE461BFC4EE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35393319-CAB8-4146-8000-E2B2CD776351}" type="pres">
      <dgm:prSet presAssocID="{C6F2CBAA-548E-4330-8F34-4BE461BFC4EE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52C6CE70-7E86-4FB5-A255-7E781FE2F966}" type="pres">
      <dgm:prSet presAssocID="{C6F2CBAA-548E-4330-8F34-4BE461BFC4EE}" presName="BalanceSpacing" presStyleCnt="0"/>
      <dgm:spPr/>
    </dgm:pt>
    <dgm:pt modelId="{F28DB956-0AD1-41F4-BD6B-BF7181B56C8D}" type="pres">
      <dgm:prSet presAssocID="{C6F2CBAA-548E-4330-8F34-4BE461BFC4EE}" presName="BalanceSpacing1" presStyleCnt="0"/>
      <dgm:spPr/>
    </dgm:pt>
    <dgm:pt modelId="{7FA6957B-76B9-47AE-8536-E49D8B81CAD5}" type="pres">
      <dgm:prSet presAssocID="{A710A7BE-BD74-41CF-BF8D-EA995C4396F1}" presName="Accent1Text" presStyleLbl="node1" presStyleIdx="3" presStyleCnt="6"/>
      <dgm:spPr/>
    </dgm:pt>
    <dgm:pt modelId="{153DF30F-5B78-4463-9A6A-431224DF870A}" type="pres">
      <dgm:prSet presAssocID="{A710A7BE-BD74-41CF-BF8D-EA995C4396F1}" presName="spaceBetweenRectangles" presStyleCnt="0"/>
      <dgm:spPr/>
    </dgm:pt>
    <dgm:pt modelId="{7AF2198F-69D7-455D-895F-DA6A3678785E}" type="pres">
      <dgm:prSet presAssocID="{C439BB23-00AC-455D-83C7-244A4C83C462}" presName="composite" presStyleCnt="0"/>
      <dgm:spPr/>
    </dgm:pt>
    <dgm:pt modelId="{B043BCE7-B81D-4DC6-B566-5C5BF43C0690}" type="pres">
      <dgm:prSet presAssocID="{C439BB23-00AC-455D-83C7-244A4C83C462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8D60C8E0-DDEE-4402-8A81-204C4B29A650}" type="pres">
      <dgm:prSet presAssocID="{C439BB23-00AC-455D-83C7-244A4C83C462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389D04A2-7198-4639-B0B2-3099F146A69A}" type="pres">
      <dgm:prSet presAssocID="{C439BB23-00AC-455D-83C7-244A4C83C462}" presName="BalanceSpacing" presStyleCnt="0"/>
      <dgm:spPr/>
    </dgm:pt>
    <dgm:pt modelId="{CF5EEF5F-C737-466A-924C-A2D5D1599AC4}" type="pres">
      <dgm:prSet presAssocID="{C439BB23-00AC-455D-83C7-244A4C83C462}" presName="BalanceSpacing1" presStyleCnt="0"/>
      <dgm:spPr/>
    </dgm:pt>
    <dgm:pt modelId="{33DBA1D6-7811-4835-8F8C-33E7755B1F38}" type="pres">
      <dgm:prSet presAssocID="{0C18F65B-7385-40B7-8888-131E1011E7EB}" presName="Accent1Text" presStyleLbl="node1" presStyleIdx="5" presStyleCnt="6"/>
      <dgm:spPr/>
    </dgm:pt>
  </dgm:ptLst>
  <dgm:cxnLst>
    <dgm:cxn modelId="{0FA96B04-CCE4-47EE-9DB3-7C5C8990C5A1}" type="presOf" srcId="{958C272B-7B04-40D2-AE2D-4075BF0DDA3B}" destId="{9830F7EB-7BB2-4AC4-99A4-8FE7411B1DD6}" srcOrd="0" destOrd="0" presId="urn:microsoft.com/office/officeart/2008/layout/AlternatingHexagons"/>
    <dgm:cxn modelId="{BEC2A608-5558-45AC-BDA9-E115E700215F}" type="presOf" srcId="{0C18F65B-7385-40B7-8888-131E1011E7EB}" destId="{33DBA1D6-7811-4835-8F8C-33E7755B1F38}" srcOrd="0" destOrd="0" presId="urn:microsoft.com/office/officeart/2008/layout/AlternatingHexagons"/>
    <dgm:cxn modelId="{A095BE15-4B82-4D40-B6FB-39A358523122}" type="presOf" srcId="{C8BA2BFF-4757-440A-8961-0529C3583B02}" destId="{8D60C8E0-DDEE-4402-8A81-204C4B29A650}" srcOrd="0" destOrd="0" presId="urn:microsoft.com/office/officeart/2008/layout/AlternatingHexagons"/>
    <dgm:cxn modelId="{31E53D1D-442A-451B-907A-638D9730CB2E}" type="presOf" srcId="{C6F2CBAA-548E-4330-8F34-4BE461BFC4EE}" destId="{42742A1E-812E-48D1-8CF4-F4D52ED5605E}" srcOrd="0" destOrd="0" presId="urn:microsoft.com/office/officeart/2008/layout/AlternatingHexagons"/>
    <dgm:cxn modelId="{8038F71F-319D-4299-BF2A-9CB90CE4C0E2}" type="presOf" srcId="{A6ACDB7C-2619-42DF-8A45-7BD7E384AAF0}" destId="{ADC0440C-C679-4A55-8CF5-0E9772D8032D}" srcOrd="0" destOrd="0" presId="urn:microsoft.com/office/officeart/2008/layout/AlternatingHexagons"/>
    <dgm:cxn modelId="{97876F48-D3EE-48F0-A974-980763FCACA9}" srcId="{89F01D5D-0CF3-460A-A129-6AD126377971}" destId="{A6ACDB7C-2619-42DF-8A45-7BD7E384AAF0}" srcOrd="0" destOrd="0" parTransId="{676B1EB8-8FCF-49C4-A6EF-10677E1DA8DF}" sibTransId="{958C272B-7B04-40D2-AE2D-4075BF0DDA3B}"/>
    <dgm:cxn modelId="{F647D669-FBA2-4414-BA4A-98450DFBF9DF}" srcId="{C439BB23-00AC-455D-83C7-244A4C83C462}" destId="{C8BA2BFF-4757-440A-8961-0529C3583B02}" srcOrd="0" destOrd="0" parTransId="{4C1E77F0-3A55-4B56-B596-3AD6EC6F1765}" sibTransId="{CBF53D73-ED09-4958-9C8C-084231E9BD90}"/>
    <dgm:cxn modelId="{E7C06C6C-588A-4F92-98FC-FCB8C6E2A215}" srcId="{89F01D5D-0CF3-460A-A129-6AD126377971}" destId="{C439BB23-00AC-455D-83C7-244A4C83C462}" srcOrd="2" destOrd="0" parTransId="{464913C1-AEF4-48E0-AA9A-61AC1AF10031}" sibTransId="{0C18F65B-7385-40B7-8888-131E1011E7EB}"/>
    <dgm:cxn modelId="{CC9CC76F-1F2F-4018-9668-F239909AE02B}" type="presOf" srcId="{14FF5CD9-324B-48E0-852D-9B5F589BDCE3}" destId="{35393319-CAB8-4146-8000-E2B2CD776351}" srcOrd="0" destOrd="0" presId="urn:microsoft.com/office/officeart/2008/layout/AlternatingHexagons"/>
    <dgm:cxn modelId="{9F985856-27BB-4901-9E35-1DE854456F8F}" srcId="{A6ACDB7C-2619-42DF-8A45-7BD7E384AAF0}" destId="{182C838F-6BFF-4EAE-AB91-107596009E68}" srcOrd="0" destOrd="0" parTransId="{1EF66743-9F4B-4471-8DDB-8B591806D67B}" sibTransId="{A26A648A-7FB5-4C56-80A3-F83F13AE67C2}"/>
    <dgm:cxn modelId="{1A77B258-6C42-4C3A-84F3-0DA3E8DB7C95}" srcId="{C6F2CBAA-548E-4330-8F34-4BE461BFC4EE}" destId="{14FF5CD9-324B-48E0-852D-9B5F589BDCE3}" srcOrd="0" destOrd="0" parTransId="{D96A8AAE-C0ED-40DD-8244-12CD4B6EF818}" sibTransId="{CA892739-9783-43E5-A2CA-4620B7D62098}"/>
    <dgm:cxn modelId="{E5F4EC8B-5BA6-4697-9674-1776E9CD0176}" type="presOf" srcId="{C439BB23-00AC-455D-83C7-244A4C83C462}" destId="{B043BCE7-B81D-4DC6-B566-5C5BF43C0690}" srcOrd="0" destOrd="0" presId="urn:microsoft.com/office/officeart/2008/layout/AlternatingHexagons"/>
    <dgm:cxn modelId="{08BE87A4-B6A2-4F65-ACFB-9F823FF89FAD}" type="presOf" srcId="{89F01D5D-0CF3-460A-A129-6AD126377971}" destId="{957FD047-0990-4B0F-818A-85271EC51781}" srcOrd="0" destOrd="0" presId="urn:microsoft.com/office/officeart/2008/layout/AlternatingHexagons"/>
    <dgm:cxn modelId="{883072CB-3F93-4FC7-A792-D47FD394B613}" type="presOf" srcId="{A710A7BE-BD74-41CF-BF8D-EA995C4396F1}" destId="{7FA6957B-76B9-47AE-8536-E49D8B81CAD5}" srcOrd="0" destOrd="0" presId="urn:microsoft.com/office/officeart/2008/layout/AlternatingHexagons"/>
    <dgm:cxn modelId="{AA6E0FCC-F708-4112-8A76-443B9534EE4B}" type="presOf" srcId="{182C838F-6BFF-4EAE-AB91-107596009E68}" destId="{0EA35F7C-9D12-4F68-A4E8-26E111180BF2}" srcOrd="0" destOrd="0" presId="urn:microsoft.com/office/officeart/2008/layout/AlternatingHexagons"/>
    <dgm:cxn modelId="{64487CD5-96FB-44FE-AFD5-8889052B51D1}" srcId="{89F01D5D-0CF3-460A-A129-6AD126377971}" destId="{C6F2CBAA-548E-4330-8F34-4BE461BFC4EE}" srcOrd="1" destOrd="0" parTransId="{A799C1C5-88D0-4F6E-AE48-883761ADE47C}" sibTransId="{A710A7BE-BD74-41CF-BF8D-EA995C4396F1}"/>
    <dgm:cxn modelId="{3E643BFF-747A-4DDF-B375-8FBBEE53D044}" type="presParOf" srcId="{957FD047-0990-4B0F-818A-85271EC51781}" destId="{AFDCEA12-D045-4FE1-BC3B-0452F2A723A1}" srcOrd="0" destOrd="0" presId="urn:microsoft.com/office/officeart/2008/layout/AlternatingHexagons"/>
    <dgm:cxn modelId="{A9079B6E-94FC-4511-B52E-11DA44D66B61}" type="presParOf" srcId="{AFDCEA12-D045-4FE1-BC3B-0452F2A723A1}" destId="{ADC0440C-C679-4A55-8CF5-0E9772D8032D}" srcOrd="0" destOrd="0" presId="urn:microsoft.com/office/officeart/2008/layout/AlternatingHexagons"/>
    <dgm:cxn modelId="{B8AC28B0-70B0-4CD6-A474-73DA44CBDE04}" type="presParOf" srcId="{AFDCEA12-D045-4FE1-BC3B-0452F2A723A1}" destId="{0EA35F7C-9D12-4F68-A4E8-26E111180BF2}" srcOrd="1" destOrd="0" presId="urn:microsoft.com/office/officeart/2008/layout/AlternatingHexagons"/>
    <dgm:cxn modelId="{4D9EB572-150C-4266-AD61-25076BF87166}" type="presParOf" srcId="{AFDCEA12-D045-4FE1-BC3B-0452F2A723A1}" destId="{F6AEFA57-64FB-4B53-BFA2-A1DCBBD9B106}" srcOrd="2" destOrd="0" presId="urn:microsoft.com/office/officeart/2008/layout/AlternatingHexagons"/>
    <dgm:cxn modelId="{AF00B309-84B1-4598-83D7-FE3109F38BB5}" type="presParOf" srcId="{AFDCEA12-D045-4FE1-BC3B-0452F2A723A1}" destId="{D4AEFBD7-8BE0-4582-BA9A-88C15A1962AA}" srcOrd="3" destOrd="0" presId="urn:microsoft.com/office/officeart/2008/layout/AlternatingHexagons"/>
    <dgm:cxn modelId="{F4974D19-AEFB-412A-A570-62ACB2BF3198}" type="presParOf" srcId="{AFDCEA12-D045-4FE1-BC3B-0452F2A723A1}" destId="{9830F7EB-7BB2-4AC4-99A4-8FE7411B1DD6}" srcOrd="4" destOrd="0" presId="urn:microsoft.com/office/officeart/2008/layout/AlternatingHexagons"/>
    <dgm:cxn modelId="{4DA32427-1B06-439D-BEE4-9808EB041279}" type="presParOf" srcId="{957FD047-0990-4B0F-818A-85271EC51781}" destId="{7F194882-1053-4C5E-8CCB-0849C238C6A3}" srcOrd="1" destOrd="0" presId="urn:microsoft.com/office/officeart/2008/layout/AlternatingHexagons"/>
    <dgm:cxn modelId="{DC5B81B5-956D-4D31-AE5F-E959098CEAFD}" type="presParOf" srcId="{957FD047-0990-4B0F-818A-85271EC51781}" destId="{2269F4D3-EAA1-4585-B1D6-335DDDDE06C7}" srcOrd="2" destOrd="0" presId="urn:microsoft.com/office/officeart/2008/layout/AlternatingHexagons"/>
    <dgm:cxn modelId="{6D694322-9956-4EFB-B371-BF07484F59E9}" type="presParOf" srcId="{2269F4D3-EAA1-4585-B1D6-335DDDDE06C7}" destId="{42742A1E-812E-48D1-8CF4-F4D52ED5605E}" srcOrd="0" destOrd="0" presId="urn:microsoft.com/office/officeart/2008/layout/AlternatingHexagons"/>
    <dgm:cxn modelId="{58673B12-2588-411F-A2EB-4B493388ADDB}" type="presParOf" srcId="{2269F4D3-EAA1-4585-B1D6-335DDDDE06C7}" destId="{35393319-CAB8-4146-8000-E2B2CD776351}" srcOrd="1" destOrd="0" presId="urn:microsoft.com/office/officeart/2008/layout/AlternatingHexagons"/>
    <dgm:cxn modelId="{B666848A-18D6-437D-91EB-595E5E9AD1DA}" type="presParOf" srcId="{2269F4D3-EAA1-4585-B1D6-335DDDDE06C7}" destId="{52C6CE70-7E86-4FB5-A255-7E781FE2F966}" srcOrd="2" destOrd="0" presId="urn:microsoft.com/office/officeart/2008/layout/AlternatingHexagons"/>
    <dgm:cxn modelId="{0225E665-D088-4969-AD69-4AEA5A43F63E}" type="presParOf" srcId="{2269F4D3-EAA1-4585-B1D6-335DDDDE06C7}" destId="{F28DB956-0AD1-41F4-BD6B-BF7181B56C8D}" srcOrd="3" destOrd="0" presId="urn:microsoft.com/office/officeart/2008/layout/AlternatingHexagons"/>
    <dgm:cxn modelId="{BE62B183-A98F-46EE-82BF-736CF8AC5501}" type="presParOf" srcId="{2269F4D3-EAA1-4585-B1D6-335DDDDE06C7}" destId="{7FA6957B-76B9-47AE-8536-E49D8B81CAD5}" srcOrd="4" destOrd="0" presId="urn:microsoft.com/office/officeart/2008/layout/AlternatingHexagons"/>
    <dgm:cxn modelId="{DB194AA1-617B-45DC-950D-7C477C06AC55}" type="presParOf" srcId="{957FD047-0990-4B0F-818A-85271EC51781}" destId="{153DF30F-5B78-4463-9A6A-431224DF870A}" srcOrd="3" destOrd="0" presId="urn:microsoft.com/office/officeart/2008/layout/AlternatingHexagons"/>
    <dgm:cxn modelId="{F46AA579-0FCE-4B2C-B512-CB4923C7B124}" type="presParOf" srcId="{957FD047-0990-4B0F-818A-85271EC51781}" destId="{7AF2198F-69D7-455D-895F-DA6A3678785E}" srcOrd="4" destOrd="0" presId="urn:microsoft.com/office/officeart/2008/layout/AlternatingHexagons"/>
    <dgm:cxn modelId="{B962E3CA-8EE2-4AF4-B758-5F9100828E16}" type="presParOf" srcId="{7AF2198F-69D7-455D-895F-DA6A3678785E}" destId="{B043BCE7-B81D-4DC6-B566-5C5BF43C0690}" srcOrd="0" destOrd="0" presId="urn:microsoft.com/office/officeart/2008/layout/AlternatingHexagons"/>
    <dgm:cxn modelId="{6627B5C6-A78A-4CE8-8024-6E0CB15D72B1}" type="presParOf" srcId="{7AF2198F-69D7-455D-895F-DA6A3678785E}" destId="{8D60C8E0-DDEE-4402-8A81-204C4B29A650}" srcOrd="1" destOrd="0" presId="urn:microsoft.com/office/officeart/2008/layout/AlternatingHexagons"/>
    <dgm:cxn modelId="{089A8E0B-29FC-4BF7-BCA2-558C03BFC300}" type="presParOf" srcId="{7AF2198F-69D7-455D-895F-DA6A3678785E}" destId="{389D04A2-7198-4639-B0B2-3099F146A69A}" srcOrd="2" destOrd="0" presId="urn:microsoft.com/office/officeart/2008/layout/AlternatingHexagons"/>
    <dgm:cxn modelId="{200D72A6-4A6A-42E8-88FB-FDB75FF97853}" type="presParOf" srcId="{7AF2198F-69D7-455D-895F-DA6A3678785E}" destId="{CF5EEF5F-C737-466A-924C-A2D5D1599AC4}" srcOrd="3" destOrd="0" presId="urn:microsoft.com/office/officeart/2008/layout/AlternatingHexagons"/>
    <dgm:cxn modelId="{EFD92D88-A4A3-4839-A238-824389E9EF1B}" type="presParOf" srcId="{7AF2198F-69D7-455D-895F-DA6A3678785E}" destId="{33DBA1D6-7811-4835-8F8C-33E7755B1F38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C0440C-C679-4A55-8CF5-0E9772D8032D}">
      <dsp:nvSpPr>
        <dsp:cNvPr id="0" name=""/>
        <dsp:cNvSpPr/>
      </dsp:nvSpPr>
      <dsp:spPr>
        <a:xfrm rot="5400000">
          <a:off x="3649725" y="110628"/>
          <a:ext cx="1676548" cy="14585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Control Vs. Security</a:t>
          </a:r>
        </a:p>
      </dsp:txBody>
      <dsp:txXfrm rot="-5400000">
        <a:off x="3985998" y="262915"/>
        <a:ext cx="1004001" cy="1154024"/>
      </dsp:txXfrm>
    </dsp:sp>
    <dsp:sp modelId="{0EA35F7C-9D12-4F68-A4E8-26E111180BF2}">
      <dsp:nvSpPr>
        <dsp:cNvPr id="0" name=""/>
        <dsp:cNvSpPr/>
      </dsp:nvSpPr>
      <dsp:spPr>
        <a:xfrm>
          <a:off x="5261559" y="336962"/>
          <a:ext cx="1871028" cy="1005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Control engineers focus on stability and gain margins; security researchers focus on threat models. The interaction between controllers and security measures is rarely analyzed.</a:t>
          </a:r>
        </a:p>
      </dsp:txBody>
      <dsp:txXfrm>
        <a:off x="5261559" y="336962"/>
        <a:ext cx="1871028" cy="1005929"/>
      </dsp:txXfrm>
    </dsp:sp>
    <dsp:sp modelId="{9830F7EB-7BB2-4AC4-99A4-8FE7411B1DD6}">
      <dsp:nvSpPr>
        <dsp:cNvPr id="0" name=""/>
        <dsp:cNvSpPr/>
      </dsp:nvSpPr>
      <dsp:spPr>
        <a:xfrm rot="5400000">
          <a:off x="2074440" y="110628"/>
          <a:ext cx="1676548" cy="14585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3">
                <a:hueOff val="2250053"/>
                <a:satOff val="-3376"/>
                <a:lumOff val="-549"/>
                <a:alphaOff val="0"/>
                <a:shade val="51000"/>
                <a:satMod val="130000"/>
              </a:schemeClr>
            </a:gs>
            <a:gs pos="80000">
              <a:schemeClr val="accent3">
                <a:hueOff val="2250053"/>
                <a:satOff val="-3376"/>
                <a:lumOff val="-549"/>
                <a:alphaOff val="0"/>
                <a:shade val="93000"/>
                <a:satMod val="130000"/>
              </a:schemeClr>
            </a:gs>
            <a:gs pos="100000">
              <a:schemeClr val="accent3">
                <a:hueOff val="2250053"/>
                <a:satOff val="-3376"/>
                <a:lumOff val="-5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410713" y="262915"/>
        <a:ext cx="1004001" cy="1154024"/>
      </dsp:txXfrm>
    </dsp:sp>
    <dsp:sp modelId="{42742A1E-812E-48D1-8CF4-F4D52ED5605E}">
      <dsp:nvSpPr>
        <dsp:cNvPr id="0" name=""/>
        <dsp:cNvSpPr/>
      </dsp:nvSpPr>
      <dsp:spPr>
        <a:xfrm rot="5400000">
          <a:off x="2859064" y="1533682"/>
          <a:ext cx="1676548" cy="14585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3">
                <a:hueOff val="4500106"/>
                <a:satOff val="-6752"/>
                <a:lumOff val="-1098"/>
                <a:alphaOff val="0"/>
                <a:shade val="51000"/>
                <a:satMod val="130000"/>
              </a:schemeClr>
            </a:gs>
            <a:gs pos="80000">
              <a:schemeClr val="accent3">
                <a:hueOff val="4500106"/>
                <a:satOff val="-6752"/>
                <a:lumOff val="-1098"/>
                <a:alphaOff val="0"/>
                <a:shade val="93000"/>
                <a:satMod val="130000"/>
              </a:schemeClr>
            </a:gs>
            <a:gs pos="100000">
              <a:schemeClr val="accent3">
                <a:hueOff val="4500106"/>
                <a:satOff val="-6752"/>
                <a:lumOff val="-10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LLM Practicality</a:t>
          </a:r>
          <a:endParaRPr lang="en-US" sz="1500" kern="1200" dirty="0"/>
        </a:p>
      </dsp:txBody>
      <dsp:txXfrm rot="-5400000">
        <a:off x="3195337" y="1685969"/>
        <a:ext cx="1004001" cy="1154024"/>
      </dsp:txXfrm>
    </dsp:sp>
    <dsp:sp modelId="{35393319-CAB8-4146-8000-E2B2CD776351}">
      <dsp:nvSpPr>
        <dsp:cNvPr id="0" name=""/>
        <dsp:cNvSpPr/>
      </dsp:nvSpPr>
      <dsp:spPr>
        <a:xfrm>
          <a:off x="1097012" y="1760016"/>
          <a:ext cx="1810672" cy="1005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Most LLM applications for robotics are proofs of concept. Questions about latency, energy use, and resilience under attack remain wide open for real-time drone deployment.</a:t>
          </a:r>
        </a:p>
      </dsp:txBody>
      <dsp:txXfrm>
        <a:off x="1097012" y="1760016"/>
        <a:ext cx="1810672" cy="1005929"/>
      </dsp:txXfrm>
    </dsp:sp>
    <dsp:sp modelId="{7FA6957B-76B9-47AE-8536-E49D8B81CAD5}">
      <dsp:nvSpPr>
        <dsp:cNvPr id="0" name=""/>
        <dsp:cNvSpPr/>
      </dsp:nvSpPr>
      <dsp:spPr>
        <a:xfrm rot="5400000">
          <a:off x="4434350" y="1533682"/>
          <a:ext cx="1676548" cy="14585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3">
                <a:hueOff val="6750158"/>
                <a:satOff val="-10128"/>
                <a:lumOff val="-1647"/>
                <a:alphaOff val="0"/>
                <a:shade val="51000"/>
                <a:satMod val="130000"/>
              </a:schemeClr>
            </a:gs>
            <a:gs pos="80000">
              <a:schemeClr val="accent3">
                <a:hueOff val="6750158"/>
                <a:satOff val="-10128"/>
                <a:lumOff val="-1647"/>
                <a:alphaOff val="0"/>
                <a:shade val="93000"/>
                <a:satMod val="130000"/>
              </a:schemeClr>
            </a:gs>
            <a:gs pos="100000">
              <a:schemeClr val="accent3">
                <a:hueOff val="6750158"/>
                <a:satOff val="-10128"/>
                <a:lumOff val="-16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4770623" y="1685969"/>
        <a:ext cx="1004001" cy="1154024"/>
      </dsp:txXfrm>
    </dsp:sp>
    <dsp:sp modelId="{B043BCE7-B81D-4DC6-B566-5C5BF43C0690}">
      <dsp:nvSpPr>
        <dsp:cNvPr id="0" name=""/>
        <dsp:cNvSpPr/>
      </dsp:nvSpPr>
      <dsp:spPr>
        <a:xfrm rot="5400000">
          <a:off x="3649725" y="2956737"/>
          <a:ext cx="1676548" cy="14585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3">
                <a:hueOff val="9000211"/>
                <a:satOff val="-13504"/>
                <a:lumOff val="-2196"/>
                <a:alphaOff val="0"/>
                <a:shade val="51000"/>
                <a:satMod val="130000"/>
              </a:schemeClr>
            </a:gs>
            <a:gs pos="80000">
              <a:schemeClr val="accent3">
                <a:hueOff val="9000211"/>
                <a:satOff val="-13504"/>
                <a:lumOff val="-2196"/>
                <a:alphaOff val="0"/>
                <a:shade val="93000"/>
                <a:satMod val="130000"/>
              </a:schemeClr>
            </a:gs>
            <a:gs pos="100000">
              <a:schemeClr val="accent3">
                <a:hueOff val="9000211"/>
                <a:satOff val="-13504"/>
                <a:lumOff val="-219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Gaps</a:t>
          </a:r>
          <a:endParaRPr lang="en-US" sz="1500" kern="1200" dirty="0"/>
        </a:p>
      </dsp:txBody>
      <dsp:txXfrm rot="-5400000">
        <a:off x="3985998" y="3109024"/>
        <a:ext cx="1004001" cy="1154024"/>
      </dsp:txXfrm>
    </dsp:sp>
    <dsp:sp modelId="{8D60C8E0-DDEE-4402-8A81-204C4B29A650}">
      <dsp:nvSpPr>
        <dsp:cNvPr id="0" name=""/>
        <dsp:cNvSpPr/>
      </dsp:nvSpPr>
      <dsp:spPr>
        <a:xfrm>
          <a:off x="5261559" y="3183071"/>
          <a:ext cx="1871028" cy="1005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There is a lack of datasets combining flight telemetry, network traces, and annotated attacks, making it difficult to gauge robustness against adversaries.</a:t>
          </a:r>
        </a:p>
      </dsp:txBody>
      <dsp:txXfrm>
        <a:off x="5261559" y="3183071"/>
        <a:ext cx="1871028" cy="1005929"/>
      </dsp:txXfrm>
    </dsp:sp>
    <dsp:sp modelId="{33DBA1D6-7811-4835-8F8C-33E7755B1F38}">
      <dsp:nvSpPr>
        <dsp:cNvPr id="0" name=""/>
        <dsp:cNvSpPr/>
      </dsp:nvSpPr>
      <dsp:spPr>
        <a:xfrm rot="5400000">
          <a:off x="2074440" y="2956737"/>
          <a:ext cx="1676548" cy="14585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410713" y="3109024"/>
        <a:ext cx="1004001" cy="11540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C80F3-146D-483D-A893-055478FBD0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36C0AE-48B0-4451-93CC-599B38AEC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13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90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453B-51ED-44F6-9C5F-858D699C2B5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0DB2-FC91-4258-B8F4-371D6011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841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453B-51ED-44F6-9C5F-858D699C2B5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0DB2-FC91-4258-B8F4-371D6011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79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453B-51ED-44F6-9C5F-858D699C2B5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0DB2-FC91-4258-B8F4-371D6011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67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453B-51ED-44F6-9C5F-858D699C2B5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0DB2-FC91-4258-B8F4-371D6011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45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453B-51ED-44F6-9C5F-858D699C2B5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0DB2-FC91-4258-B8F4-371D6011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31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453B-51ED-44F6-9C5F-858D699C2B5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0DB2-FC91-4258-B8F4-371D6011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3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453B-51ED-44F6-9C5F-858D699C2B5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0DB2-FC91-4258-B8F4-371D6011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7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453B-51ED-44F6-9C5F-858D699C2B5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0DB2-FC91-4258-B8F4-371D6011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38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453B-51ED-44F6-9C5F-858D699C2B5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0DB2-FC91-4258-B8F4-371D6011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32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453B-51ED-44F6-9C5F-858D699C2B5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0DB2-FC91-4258-B8F4-371D6011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0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453B-51ED-44F6-9C5F-858D699C2B5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0DB2-FC91-4258-B8F4-371D6011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60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9D453B-51ED-44F6-9C5F-858D699C2B5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20DB2-FC91-4258-B8F4-371D6011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59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49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balki/handshakeGPT.git" TargetMode="External"/><Relationship Id="rId2" Type="http://schemas.openxmlformats.org/officeDocument/2006/relationships/hyperlink" Target="https://github.com/dbalki/px4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34F9A0-7234-BDDB-A5B7-F69621B55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04800"/>
            <a:ext cx="7772400" cy="14700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Leveraging LLMs for Adaptive and Secure UAV Control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10B574F-7BF9-4E8C-4DCB-14CDCB28B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0" y="2003425"/>
            <a:ext cx="3124200" cy="3711575"/>
          </a:xfrm>
        </p:spPr>
        <p:txBody>
          <a:bodyPr>
            <a:normAutofit fontScale="62500" lnSpcReduction="20000"/>
          </a:bodyPr>
          <a:lstStyle/>
          <a:p>
            <a:pPr algn="l"/>
            <a:endParaRPr lang="en-US" dirty="0">
              <a:solidFill>
                <a:schemeClr val="bg1"/>
              </a:solidFill>
            </a:endParaRPr>
          </a:p>
          <a:p>
            <a:pPr algn="r"/>
            <a:r>
              <a:rPr lang="en-US" dirty="0">
                <a:solidFill>
                  <a:schemeClr val="bg1"/>
                </a:solidFill>
              </a:rPr>
              <a:t>PhD Dissertation Proposal</a:t>
            </a:r>
          </a:p>
          <a:p>
            <a:pPr algn="r"/>
            <a:endParaRPr lang="en-US" dirty="0">
              <a:solidFill>
                <a:schemeClr val="bg1"/>
              </a:solidFill>
            </a:endParaRPr>
          </a:p>
          <a:p>
            <a:pPr algn="r"/>
            <a:r>
              <a:rPr lang="en-US" dirty="0">
                <a:solidFill>
                  <a:schemeClr val="bg1"/>
                </a:solidFill>
              </a:rPr>
              <a:t>Balakrishnan Dharmalingam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Oakland University, 2025</a:t>
            </a:r>
          </a:p>
          <a:p>
            <a:pPr indent="-228600" algn="r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indent="-228600" algn="r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algn="r"/>
            <a:r>
              <a:rPr lang="en-US" dirty="0">
                <a:solidFill>
                  <a:schemeClr val="bg1"/>
                </a:solidFill>
              </a:rPr>
              <a:t>DAC Members: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Dr. Anyi Liu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Dr. Subra Ganesan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Dr. Xiaodong Deng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Dr. Mohammad Wardat</a:t>
            </a:r>
          </a:p>
          <a:p>
            <a:endParaRPr lang="en-US" dirty="0"/>
          </a:p>
        </p:txBody>
      </p:sp>
      <p:pic>
        <p:nvPicPr>
          <p:cNvPr id="7" name="Picture 6" descr="A drone flying in the air&#10;&#10;AI-generated content may be incorrect.">
            <a:extLst>
              <a:ext uri="{FF2B5EF4-FFF2-40B4-BE49-F238E27FC236}">
                <a16:creationId xmlns:a16="http://schemas.microsoft.com/office/drawing/2014/main" id="{3ED9527D-6333-824E-7EBF-4872302844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91" t="6484" r="27819"/>
          <a:stretch>
            <a:fillRect/>
          </a:stretch>
        </p:blipFill>
        <p:spPr>
          <a:xfrm>
            <a:off x="1143000" y="1927225"/>
            <a:ext cx="4495800" cy="394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549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0ED37-3658-4ABA-DB73-051FC3B55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F6031-9C71-B5AF-41DB-54FDBD6CC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Introduction and background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Research Problems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Research Objectives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Approach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Methodology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Contribution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 Timeline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 Q&amp;A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019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3ECE5-1D73-47C3-FC54-E431AD9F1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9DEF8-1FD8-1477-8DFB-74F8556C1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Would like to thank Dr. Anyi Liu and Dr. Subra Ganesan for their valuable guidance and advice</a:t>
            </a:r>
          </a:p>
          <a:p>
            <a:r>
              <a:rPr lang="en-US" dirty="0"/>
              <a:t>Would like to thank Dr. Deng and Dr. Wardat for their comments and feedback</a:t>
            </a:r>
          </a:p>
          <a:p>
            <a:r>
              <a:rPr lang="en-US" dirty="0"/>
              <a:t>Would like to recognize OU Students Ibrahim, Sid, Brett, and Raj for their contribution to collect sensor data, fine tuning LLMs </a:t>
            </a:r>
          </a:p>
        </p:txBody>
      </p:sp>
    </p:spTree>
    <p:extLst>
      <p:ext uri="{BB962C8B-B14F-4D97-AF65-F5344CB8AC3E}">
        <p14:creationId xmlns:p14="http://schemas.microsoft.com/office/powerpoint/2010/main" val="186893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0DB8B-6CFD-E778-C7E4-DF8DF640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AC383-B2C8-B531-07C1-EFD249FF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UAV – Definition</a:t>
            </a:r>
          </a:p>
          <a:p>
            <a:r>
              <a:rPr lang="en-US" dirty="0"/>
              <a:t>Applications</a:t>
            </a:r>
          </a:p>
          <a:p>
            <a:r>
              <a:rPr lang="en-US" dirty="0"/>
              <a:t>Control Mechanisms</a:t>
            </a:r>
          </a:p>
          <a:p>
            <a:pPr lvl="1"/>
            <a:r>
              <a:rPr lang="en-US" dirty="0"/>
              <a:t>PID, MPC</a:t>
            </a:r>
          </a:p>
          <a:p>
            <a:r>
              <a:rPr lang="en-US" dirty="0"/>
              <a:t>Challenges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605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62AB4-C926-B543-070D-FEA46797D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3A21B-A97E-E02C-2B8D-D26FE09FE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Unmanned Aerial Vehicles</a:t>
            </a:r>
          </a:p>
          <a:p>
            <a:pPr lvl="1"/>
            <a:r>
              <a:rPr lang="en-US" dirty="0"/>
              <a:t>Drones, VTOL, Fixed Wing planes</a:t>
            </a:r>
          </a:p>
          <a:p>
            <a:pPr lvl="1"/>
            <a:r>
              <a:rPr lang="en-US" dirty="0"/>
              <a:t>Autonomous</a:t>
            </a:r>
          </a:p>
          <a:p>
            <a:r>
              <a:rPr lang="en-US" dirty="0"/>
              <a:t>Components</a:t>
            </a:r>
          </a:p>
          <a:p>
            <a:pPr lvl="1"/>
            <a:r>
              <a:rPr lang="en-US" dirty="0"/>
              <a:t>UAV, GCS, Radio Telemetry, Onboard computer, power bank</a:t>
            </a:r>
          </a:p>
          <a:p>
            <a:pPr lvl="1"/>
            <a:r>
              <a:rPr lang="en-US" dirty="0"/>
              <a:t>Onboard Sensors such as GPS, LiDAR, Cameras, Inertial Measurement Unit (IMU)</a:t>
            </a:r>
          </a:p>
          <a:p>
            <a:r>
              <a:rPr lang="en-US" dirty="0"/>
              <a:t>Applications</a:t>
            </a:r>
          </a:p>
          <a:p>
            <a:pPr lvl="1"/>
            <a:r>
              <a:rPr lang="en-US" dirty="0"/>
              <a:t>Military</a:t>
            </a:r>
          </a:p>
          <a:p>
            <a:pPr lvl="2"/>
            <a:r>
              <a:rPr lang="en-US" dirty="0"/>
              <a:t>Surveillance</a:t>
            </a:r>
          </a:p>
          <a:p>
            <a:pPr lvl="2"/>
            <a:r>
              <a:rPr lang="en-US" dirty="0"/>
              <a:t>Precision strikes</a:t>
            </a:r>
          </a:p>
          <a:p>
            <a:pPr lvl="2"/>
            <a:r>
              <a:rPr lang="en-US" dirty="0"/>
              <a:t>Reconnaissance</a:t>
            </a:r>
          </a:p>
          <a:p>
            <a:pPr lvl="1"/>
            <a:r>
              <a:rPr lang="en-US" dirty="0"/>
              <a:t>Disaster management</a:t>
            </a:r>
          </a:p>
          <a:p>
            <a:pPr lvl="1"/>
            <a:r>
              <a:rPr lang="en-US" dirty="0"/>
              <a:t>Navigating hazardous environment</a:t>
            </a:r>
          </a:p>
          <a:p>
            <a:pPr lvl="1"/>
            <a:r>
              <a:rPr lang="en-US" dirty="0"/>
              <a:t>Agricultural Monitoring</a:t>
            </a:r>
          </a:p>
          <a:p>
            <a:pPr lvl="1"/>
            <a:r>
              <a:rPr lang="en-US" dirty="0"/>
              <a:t>Consumer applications</a:t>
            </a:r>
          </a:p>
          <a:p>
            <a:pPr lvl="2"/>
            <a:r>
              <a:rPr lang="en-US" dirty="0"/>
              <a:t>Package Delivery</a:t>
            </a:r>
          </a:p>
          <a:p>
            <a:pPr lvl="2"/>
            <a:r>
              <a:rPr lang="en-US" dirty="0"/>
              <a:t>Aerial Photography</a:t>
            </a:r>
          </a:p>
        </p:txBody>
      </p:sp>
    </p:spTree>
    <p:extLst>
      <p:ext uri="{BB962C8B-B14F-4D97-AF65-F5344CB8AC3E}">
        <p14:creationId xmlns:p14="http://schemas.microsoft.com/office/powerpoint/2010/main" val="827041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18E2B-D06F-6BA2-261B-1AA217C52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UAV Flight Management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D70A9-06D5-C99B-BD53-40A255A98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Firmware </a:t>
            </a:r>
          </a:p>
          <a:p>
            <a:pPr lvl="1"/>
            <a:r>
              <a:rPr lang="en-US" dirty="0" err="1"/>
              <a:t>ArduPilot</a:t>
            </a:r>
            <a:endParaRPr lang="en-US" dirty="0"/>
          </a:p>
          <a:p>
            <a:pPr lvl="1"/>
            <a:r>
              <a:rPr lang="en-US" dirty="0" err="1"/>
              <a:t>PixHawk</a:t>
            </a:r>
            <a:r>
              <a:rPr lang="en-US" dirty="0"/>
              <a:t> (PX4)</a:t>
            </a:r>
          </a:p>
          <a:p>
            <a:pPr lvl="2"/>
            <a:r>
              <a:rPr lang="en-US" dirty="0" err="1"/>
              <a:t>NuttX</a:t>
            </a:r>
            <a:r>
              <a:rPr lang="en-US" dirty="0"/>
              <a:t> OS – Linux like OS</a:t>
            </a:r>
          </a:p>
          <a:p>
            <a:pPr lvl="2"/>
            <a:r>
              <a:rPr lang="en-US" dirty="0"/>
              <a:t>System architecture in </a:t>
            </a:r>
            <a:r>
              <a:rPr lang="en-US" dirty="0">
                <a:hlinkClick r:id="rId2" action="ppaction://hlinksldjump"/>
              </a:rPr>
              <a:t>Appendix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254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14F5C-138C-30FF-F188-41E1A837D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10C41-6733-95BD-BF18-B6FAAC9CF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Proportional Integral Differential (PID) Controllers</a:t>
            </a:r>
          </a:p>
          <a:p>
            <a:pPr lvl="1"/>
            <a:r>
              <a:rPr lang="en-US" dirty="0"/>
              <a:t>Changes the outputs of actuators based on sensor feedback</a:t>
            </a:r>
          </a:p>
          <a:p>
            <a:pPr lvl="1"/>
            <a:r>
              <a:rPr lang="en-US" dirty="0"/>
              <a:t>Details in </a:t>
            </a:r>
            <a:r>
              <a:rPr lang="en-US" dirty="0">
                <a:hlinkClick r:id="rId2" action="ppaction://hlinksldjump"/>
              </a:rPr>
              <a:t>Appendix</a:t>
            </a:r>
            <a:endParaRPr lang="en-US" dirty="0"/>
          </a:p>
          <a:p>
            <a:r>
              <a:rPr lang="en-US" dirty="0"/>
              <a:t>Model Prediction Control (MPC)</a:t>
            </a:r>
          </a:p>
          <a:p>
            <a:pPr lvl="1"/>
            <a:r>
              <a:rPr lang="en-US" dirty="0"/>
              <a:t>Optimize control within a prediction horizon</a:t>
            </a:r>
          </a:p>
          <a:p>
            <a:r>
              <a:rPr lang="en-US" dirty="0"/>
              <a:t>Effective in structured contexts but less effective in </a:t>
            </a:r>
          </a:p>
          <a:p>
            <a:pPr lvl="1"/>
            <a:r>
              <a:rPr lang="en-US" dirty="0"/>
              <a:t>Adverse weather</a:t>
            </a:r>
          </a:p>
          <a:p>
            <a:pPr lvl="1"/>
            <a:r>
              <a:rPr lang="en-US" dirty="0"/>
              <a:t>Evolving mission requirements</a:t>
            </a:r>
          </a:p>
          <a:p>
            <a:r>
              <a:rPr lang="en-US" dirty="0"/>
              <a:t>Lack adaptability in dynamic/unpredictable settings</a:t>
            </a:r>
          </a:p>
          <a:p>
            <a:r>
              <a:rPr lang="en-US" dirty="0"/>
              <a:t>Require extensive data, calibration, domain knowledge </a:t>
            </a:r>
          </a:p>
          <a:p>
            <a:r>
              <a:rPr lang="en-US" dirty="0"/>
              <a:t>Not scalable</a:t>
            </a:r>
          </a:p>
          <a:p>
            <a:r>
              <a:rPr lang="en-US" dirty="0"/>
              <a:t>May not work on all UAV platforms or mission profiles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492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9B38F-5A59-B06E-68CA-26B63F035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E8051-6A44-E83F-8907-5D6BD8C09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Adaptive Control</a:t>
            </a:r>
          </a:p>
          <a:p>
            <a:pPr lvl="1"/>
            <a:r>
              <a:rPr lang="en-US" dirty="0"/>
              <a:t>Dynamic Environment - Weather, Obstacles, etc.</a:t>
            </a:r>
          </a:p>
          <a:p>
            <a:pPr lvl="1"/>
            <a:r>
              <a:rPr lang="en-US" dirty="0"/>
              <a:t>Maintains flight and mission performance stable</a:t>
            </a:r>
          </a:p>
          <a:p>
            <a:r>
              <a:rPr lang="en-US" dirty="0"/>
              <a:t>Cyber Security</a:t>
            </a:r>
          </a:p>
          <a:p>
            <a:pPr lvl="1"/>
            <a:r>
              <a:rPr lang="en-US" dirty="0"/>
              <a:t>Flight Management Systems lack Cyber Security</a:t>
            </a:r>
          </a:p>
          <a:p>
            <a:pPr lvl="1"/>
            <a:r>
              <a:rPr lang="en-US" dirty="0"/>
              <a:t>Adversaries inject malicious data thru GCS, Wi-Fi, GPS Spoofing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07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567B6-B6CE-3FEA-9516-2D7EB63E9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0BBB2-C269-F032-11C2-FF49E422E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Large – Data and hyper parameters (Weights and Bias)</a:t>
            </a:r>
          </a:p>
          <a:p>
            <a:r>
              <a:rPr lang="en-US" dirty="0"/>
              <a:t>Natural Language processing (NLP)</a:t>
            </a:r>
          </a:p>
          <a:p>
            <a:pPr lvl="1"/>
            <a:r>
              <a:rPr lang="en-US" dirty="0"/>
              <a:t>In-context learning</a:t>
            </a:r>
          </a:p>
          <a:p>
            <a:pPr lvl="1"/>
            <a:r>
              <a:rPr lang="en-US" dirty="0"/>
              <a:t>Contextual reasoning</a:t>
            </a:r>
          </a:p>
          <a:p>
            <a:pPr lvl="1"/>
            <a:r>
              <a:rPr lang="en-US" dirty="0"/>
              <a:t>Infers patterns from data</a:t>
            </a:r>
          </a:p>
          <a:p>
            <a:pPr lvl="1"/>
            <a:r>
              <a:rPr lang="en-US" dirty="0"/>
              <a:t>Adapts to new tasks with minimal additional training</a:t>
            </a:r>
          </a:p>
          <a:p>
            <a:pPr lvl="1"/>
            <a:r>
              <a:rPr lang="en-US" dirty="0"/>
              <a:t>Can be finetuned for different problem domain</a:t>
            </a:r>
          </a:p>
          <a:p>
            <a:r>
              <a:rPr lang="en-US" dirty="0"/>
              <a:t>E.g., Llama 4, DeepSeek, GPT-5, Grok 4, Anthropic Sonnet</a:t>
            </a:r>
          </a:p>
        </p:txBody>
      </p:sp>
    </p:spTree>
    <p:extLst>
      <p:ext uri="{BB962C8B-B14F-4D97-AF65-F5344CB8AC3E}">
        <p14:creationId xmlns:p14="http://schemas.microsoft.com/office/powerpoint/2010/main" val="2902582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EE5D-1FE9-225C-3B4B-872735D5B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the 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80B71C-AF03-C3FB-F09B-7ED9525597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4276" y="1219200"/>
            <a:ext cx="5295447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633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C2D11-5685-16F4-0118-4114E49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773B02-422B-672A-B647-C2BE61A198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339293"/>
              </p:ext>
            </p:extLst>
          </p:nvPr>
        </p:nvGraphicFramePr>
        <p:xfrm>
          <a:off x="457200" y="12954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9414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04C24-1A1C-9DFE-EA45-D7298D1B0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D8809-5750-AA28-B583-37D66414F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many research done on using LLMs to control UAVs</a:t>
            </a:r>
          </a:p>
          <a:p>
            <a:r>
              <a:rPr lang="en-US" dirty="0"/>
              <a:t>Not many research on distributed architecture to overcome limited computing resources in UAVs</a:t>
            </a:r>
          </a:p>
        </p:txBody>
      </p:sp>
    </p:spTree>
    <p:extLst>
      <p:ext uri="{BB962C8B-B14F-4D97-AF65-F5344CB8AC3E}">
        <p14:creationId xmlns:p14="http://schemas.microsoft.com/office/powerpoint/2010/main" val="3076763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2F981-0091-ADB6-393A-04553E923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UAV Control using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3E999-67E1-FD7D-3757-98CF4E808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LLMs can:</a:t>
            </a:r>
          </a:p>
          <a:p>
            <a:pPr lvl="1"/>
            <a:r>
              <a:rPr lang="en-US" dirty="0"/>
              <a:t>Integrate diverse data streams (sensors, commands, regulations)</a:t>
            </a:r>
          </a:p>
          <a:p>
            <a:pPr lvl="1"/>
            <a:r>
              <a:rPr lang="en-US" dirty="0"/>
              <a:t>Detect cyber anomalies using historical data</a:t>
            </a:r>
          </a:p>
          <a:p>
            <a:pPr lvl="1"/>
            <a:r>
              <a:rPr lang="en-US" dirty="0"/>
              <a:t>Optimize flight trajectories in response to real-time updates</a:t>
            </a:r>
          </a:p>
          <a:p>
            <a:pPr lvl="1"/>
            <a:r>
              <a:rPr lang="en-US" dirty="0"/>
              <a:t>Dynamically revise decision rules and self-adjust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342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FF8E1-CB58-7B36-E301-6677CD828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681EC-70CA-0CBA-C675-D4F5762B7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Investigate integrating LLMs into UAV control systems to enhance adaptability, autonomy, and cybersecurity.</a:t>
            </a:r>
          </a:p>
          <a:p>
            <a:r>
              <a:rPr lang="en-US" sz="2800" dirty="0"/>
              <a:t>Integration of LLMs into UAV systems is challenging</a:t>
            </a:r>
          </a:p>
          <a:p>
            <a:r>
              <a:rPr lang="en-US" sz="2800" dirty="0"/>
              <a:t>Focus: Can LLMs enhance adaptability, autonomy, cybersecurity in UAVs?</a:t>
            </a:r>
          </a:p>
        </p:txBody>
      </p:sp>
    </p:spTree>
    <p:extLst>
      <p:ext uri="{BB962C8B-B14F-4D97-AF65-F5344CB8AC3E}">
        <p14:creationId xmlns:p14="http://schemas.microsoft.com/office/powerpoint/2010/main" val="711678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FAD2D-F06C-6893-BB9A-65192FF17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C17DA-8319-3C4F-76EF-D2DB0A682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Obj 1: Collect dataset using simulations (HITL/SITL), hacking, fuzzing.</a:t>
            </a:r>
          </a:p>
          <a:p>
            <a:r>
              <a:rPr lang="en-US" sz="2800" dirty="0"/>
              <a:t>Obj 2: Utilize LLM for MITM attacks, generate fake data for training.</a:t>
            </a:r>
          </a:p>
          <a:p>
            <a:r>
              <a:rPr lang="en-US" sz="2800" dirty="0"/>
              <a:t>Obj 3: Finetune LLMs using PEFT, RLHF, SFT for anomaly detection, path optimization, threats.</a:t>
            </a:r>
          </a:p>
          <a:p>
            <a:r>
              <a:rPr lang="en-US" sz="2800" dirty="0"/>
              <a:t>Obj 4: Use LLMs for anomaly detection, forecasting; select task-specific models.</a:t>
            </a:r>
          </a:p>
          <a:p>
            <a:r>
              <a:rPr lang="en-US" sz="2800" dirty="0"/>
              <a:t>Obj 5: Evaluate framework vs. traditional controls (precision, recall, F1, accuracy, latency, resilience).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75431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E0344-8E45-A529-0DDB-F3C1BD88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3FC49-124E-F494-593C-A0016FE36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sz="2000" dirty="0"/>
              <a:t>B. Dharmalingam, A. Liu, S. Ganesan, and S. Roy. FineObfuscator: Defeating reverse engineering attacks with context-sensitive and cost-efficient obfuscation for android apps. In </a:t>
            </a:r>
            <a:r>
              <a:rPr lang="en-US" sz="2000" i="1" dirty="0"/>
              <a:t>2022 IEEE International Conference on Electro Information Technology(eIT)</a:t>
            </a:r>
            <a:r>
              <a:rPr lang="en-US" sz="2000" dirty="0"/>
              <a:t>, pages 368–374, 2022. </a:t>
            </a:r>
            <a:r>
              <a:rPr lang="en-US" sz="2000" dirty="0" err="1"/>
              <a:t>doi</a:t>
            </a:r>
            <a:r>
              <a:rPr lang="en-US" sz="2000" dirty="0"/>
              <a:t>: 10.1109/eIT53891.2022.9837111.</a:t>
            </a:r>
          </a:p>
          <a:p>
            <a:pPr lvl="0"/>
            <a:r>
              <a:rPr lang="en-US" sz="2000" dirty="0"/>
              <a:t>B. Piggott, S. Patil, G. Feng, I. Odat, R. Mukherjee, B. Dharmalingam, and A. Liu. Net-</a:t>
            </a:r>
            <a:r>
              <a:rPr lang="en-US" sz="2000" dirty="0" err="1"/>
              <a:t>gpt</a:t>
            </a:r>
            <a:r>
              <a:rPr lang="en-US" sz="2000" dirty="0"/>
              <a:t>: A </a:t>
            </a:r>
            <a:r>
              <a:rPr lang="en-US" sz="2000" dirty="0" err="1"/>
              <a:t>llm</a:t>
            </a:r>
            <a:r>
              <a:rPr lang="en-US" sz="2000" dirty="0"/>
              <a:t>-empowered man-in-the-middle chatbot for </a:t>
            </a:r>
            <a:r>
              <a:rPr lang="en-US" sz="2000" dirty="0" err="1"/>
              <a:t>nmanned</a:t>
            </a:r>
            <a:r>
              <a:rPr lang="en-US" sz="2000" dirty="0"/>
              <a:t> aerial vehicle. In 2023 IEEE/ACM Symposium on Edge Computing (SEC), pages 287–293, 2023. </a:t>
            </a:r>
            <a:r>
              <a:rPr lang="en-US" sz="2000" dirty="0" err="1"/>
              <a:t>doi</a:t>
            </a:r>
            <a:r>
              <a:rPr lang="en-US" sz="2000" dirty="0"/>
              <a:t>: 10.1145/3583740.3626809</a:t>
            </a:r>
          </a:p>
          <a:p>
            <a:pPr lvl="0"/>
            <a:r>
              <a:rPr lang="en-US" sz="2000" dirty="0"/>
              <a:t>B. Dharmalingam, I. Odat, R. Mukherjee, B. Piggott and A. Liu, "Heterogeneous Generative Dataset for </a:t>
            </a:r>
            <a:r>
              <a:rPr lang="en-US" sz="2000" dirty="0" err="1"/>
              <a:t>UASes</a:t>
            </a:r>
            <a:r>
              <a:rPr lang="en-US" sz="2000" dirty="0"/>
              <a:t>," 2023 IEEE International Conference on Mobility, Operations, Services and Technologies (MOST), Detroit, MI, USA, 2023, pp. 229-230, </a:t>
            </a:r>
            <a:r>
              <a:rPr lang="en-US" sz="2000" dirty="0" err="1"/>
              <a:t>doi</a:t>
            </a:r>
            <a:r>
              <a:rPr lang="en-US" sz="2000" dirty="0"/>
              <a:t>: 10.1109/MOST57249.2023.00034. </a:t>
            </a:r>
          </a:p>
          <a:p>
            <a:pPr lvl="0"/>
            <a:r>
              <a:rPr lang="en-US" sz="2000" dirty="0"/>
              <a:t>B. Dharmalingam, B. Piggott, G. Feng, R. Mukherjee, and A. Liu. Aero-</a:t>
            </a:r>
            <a:r>
              <a:rPr lang="en-US" sz="2000" dirty="0" err="1"/>
              <a:t>llm</a:t>
            </a:r>
            <a:r>
              <a:rPr lang="en-US" sz="2000" dirty="0"/>
              <a:t>: A distributed framework for secure </a:t>
            </a:r>
            <a:r>
              <a:rPr lang="en-US" sz="2000" dirty="0" err="1"/>
              <a:t>uav</a:t>
            </a:r>
            <a:r>
              <a:rPr lang="en-US" sz="2000" dirty="0"/>
              <a:t> communication and intelligent decision-making. In Proceedings of the ICCCN 2024 Conference. IEEE, 2024.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76575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A469A-DD2E-2345-5997-2E5EFD8F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B4F81-8F6C-AE14-96BA-B4B04AD4B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93837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Construct HGDAVE dataset for </a:t>
            </a:r>
            <a:r>
              <a:rPr lang="en-US" sz="2800" dirty="0" err="1"/>
              <a:t>UASes</a:t>
            </a:r>
            <a:r>
              <a:rPr lang="en-US" sz="2800" dirty="0"/>
              <a:t> (CAVs/UAVs).</a:t>
            </a:r>
          </a:p>
          <a:p>
            <a:r>
              <a:rPr lang="en-US" sz="2800" dirty="0"/>
              <a:t>Design LLM-powered MITM chatbot (Net-GPT).</a:t>
            </a:r>
          </a:p>
          <a:p>
            <a:r>
              <a:rPr lang="en-US" sz="2800" dirty="0"/>
              <a:t>Optimize task-specific LLMs using SFT/RLHF.</a:t>
            </a:r>
          </a:p>
          <a:p>
            <a:r>
              <a:rPr lang="en-US" sz="2800" dirty="0"/>
              <a:t>Develop distributed LLM architecture for UAV missions.</a:t>
            </a:r>
          </a:p>
          <a:p>
            <a:r>
              <a:rPr lang="en-US" sz="2800" dirty="0"/>
              <a:t>Implement anomaly detection using LLM.</a:t>
            </a:r>
          </a:p>
          <a:p>
            <a:r>
              <a:rPr lang="en-US" sz="2800" dirty="0"/>
              <a:t>Evaluate framework in real/simulated scenarios.</a:t>
            </a:r>
          </a:p>
          <a:p>
            <a:r>
              <a:rPr lang="en-US" sz="2800" dirty="0"/>
              <a:t>Benchmark Aero-LLM vs. standard controllers.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91749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7B16E-8F3A-ED80-7396-E089110E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AEFF7-FD24-9545-982D-67D597840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Collect comprehensive data from sensors</a:t>
            </a:r>
          </a:p>
          <a:p>
            <a:r>
              <a:rPr lang="en-US" dirty="0"/>
              <a:t>Pre-process the data - Missing data, normalizing data, extrapolating, remove noise, etc.</a:t>
            </a:r>
          </a:p>
          <a:p>
            <a:r>
              <a:rPr lang="en-US" dirty="0"/>
              <a:t>Select LLM models for Time series data</a:t>
            </a:r>
          </a:p>
          <a:p>
            <a:r>
              <a:rPr lang="en-US" dirty="0"/>
              <a:t>Finetune foundational model with UAV sensor data collected</a:t>
            </a:r>
          </a:p>
          <a:p>
            <a:pPr lvl="1"/>
            <a:r>
              <a:rPr lang="en-US" dirty="0"/>
              <a:t>Use Ubuntu with GPU</a:t>
            </a:r>
          </a:p>
          <a:p>
            <a:pPr lvl="1"/>
            <a:r>
              <a:rPr lang="en-US" dirty="0"/>
              <a:t>Use cloud containers with GPU</a:t>
            </a:r>
          </a:p>
          <a:p>
            <a:r>
              <a:rPr lang="en-US" dirty="0"/>
              <a:t>Use the finetuned model for controlling UAV and anomaly detection</a:t>
            </a:r>
          </a:p>
        </p:txBody>
      </p:sp>
    </p:spTree>
    <p:extLst>
      <p:ext uri="{BB962C8B-B14F-4D97-AF65-F5344CB8AC3E}">
        <p14:creationId xmlns:p14="http://schemas.microsoft.com/office/powerpoint/2010/main" val="1552985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298E0-DB65-9487-0861-322806917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– 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5C325-D6CC-A522-402E-031D901F0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GCS, Simulation, Physical hacking, Fuzzing, TCP, UDP, </a:t>
            </a:r>
            <a:r>
              <a:rPr lang="en-US" dirty="0" err="1"/>
              <a:t>MavLink</a:t>
            </a:r>
            <a:endParaRPr lang="en-US" dirty="0"/>
          </a:p>
          <a:p>
            <a:r>
              <a:rPr lang="en-US" dirty="0"/>
              <a:t>Pre-process sensor/TCP/UDP data</a:t>
            </a:r>
          </a:p>
          <a:p>
            <a:r>
              <a:rPr lang="en-US" dirty="0"/>
              <a:t>Select foundation models for tuning</a:t>
            </a:r>
          </a:p>
          <a:p>
            <a:pPr lvl="1"/>
            <a:r>
              <a:rPr lang="en-US" dirty="0"/>
              <a:t>Header fields selected for fine tuning</a:t>
            </a:r>
          </a:p>
        </p:txBody>
      </p:sp>
    </p:spTree>
    <p:extLst>
      <p:ext uri="{BB962C8B-B14F-4D97-AF65-F5344CB8AC3E}">
        <p14:creationId xmlns:p14="http://schemas.microsoft.com/office/powerpoint/2010/main" val="887434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F2F0-3ABD-437F-FC85-C6041303E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-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6B6F3-DADE-3965-B453-42A595467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dirty="0"/>
              <a:t>PX4 Autopilot Firmware</a:t>
            </a:r>
          </a:p>
          <a:p>
            <a:r>
              <a:rPr lang="en-US" dirty="0"/>
              <a:t>Simulation Types: SITL (software-only), HITL (hardware-integrated).</a:t>
            </a:r>
          </a:p>
          <a:p>
            <a:r>
              <a:rPr lang="en-US" dirty="0"/>
              <a:t>Simulators:</a:t>
            </a:r>
          </a:p>
          <a:p>
            <a:pPr lvl="1"/>
            <a:r>
              <a:rPr lang="en-US" dirty="0"/>
              <a:t>Gazebo</a:t>
            </a:r>
          </a:p>
          <a:p>
            <a:pPr lvl="1"/>
            <a:r>
              <a:rPr lang="en-US" dirty="0" err="1"/>
              <a:t>jMavSim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diagram of a flight simulator&#10;&#10;AI-generated content may be incorrect.">
            <a:extLst>
              <a:ext uri="{FF2B5EF4-FFF2-40B4-BE49-F238E27FC236}">
                <a16:creationId xmlns:a16="http://schemas.microsoft.com/office/drawing/2014/main" id="{6ACA944C-3665-3206-B347-61CEE7D4F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123" y="3124200"/>
            <a:ext cx="3200677" cy="257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61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B2CAF-8E57-430C-A74F-1FA19DC2A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- SITL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78FAA-7498-8335-9ECD-63492263F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SITL Setup: Run on computer, simulators like Gazebo.</a:t>
            </a:r>
          </a:p>
          <a:p>
            <a:endParaRPr lang="en-US" dirty="0"/>
          </a:p>
        </p:txBody>
      </p:sp>
      <p:pic>
        <p:nvPicPr>
          <p:cNvPr id="5" name="Picture 4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013F6A23-F254-FE87-3E28-3BC259B87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2720107"/>
            <a:ext cx="3322608" cy="269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058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77BF3-D765-8EAC-78C6-97AA74F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- HITL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A00AA-03B3-0061-9800-D6EF01515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HITL Setup: Real hardware + simulator for validation.</a:t>
            </a:r>
          </a:p>
          <a:p>
            <a:endParaRPr lang="en-US" dirty="0"/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8B39F0F1-AFD0-6E6A-3FF7-5F4348EC8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111" y="3184974"/>
            <a:ext cx="3901778" cy="21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920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FE5E-E64C-19E1-58E5-B88F74C04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– Manual Hacking</a:t>
            </a:r>
          </a:p>
        </p:txBody>
      </p:sp>
      <p:pic>
        <p:nvPicPr>
          <p:cNvPr id="5" name="Content Placeholder 4" descr="A diagram of a person with a computer&#10;&#10;AI-generated content may be incorrect.">
            <a:extLst>
              <a:ext uri="{FF2B5EF4-FFF2-40B4-BE49-F238E27FC236}">
                <a16:creationId xmlns:a16="http://schemas.microsoft.com/office/drawing/2014/main" id="{453260F2-B4D0-6C8C-726F-9FE77B7AFA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177" y="2952512"/>
            <a:ext cx="2377646" cy="1821338"/>
          </a:xfrm>
        </p:spPr>
      </p:pic>
    </p:spTree>
    <p:extLst>
      <p:ext uri="{BB962C8B-B14F-4D97-AF65-F5344CB8AC3E}">
        <p14:creationId xmlns:p14="http://schemas.microsoft.com/office/powerpoint/2010/main" val="1915035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E73B3-79F8-FC72-4173-0B0FC9BF5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- Fuzzing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7CB53-E4B9-E679-4DEC-0E8A75498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PGFuzz</a:t>
            </a:r>
            <a:endParaRPr lang="en-US" dirty="0"/>
          </a:p>
          <a:p>
            <a:pPr lvl="1"/>
            <a:r>
              <a:rPr lang="en-US" dirty="0"/>
              <a:t>Manipulates input data from three different sets:</a:t>
            </a:r>
          </a:p>
          <a:p>
            <a:pPr lvl="2"/>
            <a:r>
              <a:rPr lang="en-US" dirty="0"/>
              <a:t>Commands</a:t>
            </a:r>
          </a:p>
          <a:p>
            <a:pPr lvl="2"/>
            <a:r>
              <a:rPr lang="en-US" dirty="0"/>
              <a:t>Parameters</a:t>
            </a:r>
          </a:p>
          <a:p>
            <a:pPr lvl="2"/>
            <a:r>
              <a:rPr lang="en-US" dirty="0"/>
              <a:t>Environmental factors</a:t>
            </a:r>
          </a:p>
        </p:txBody>
      </p:sp>
    </p:spTree>
    <p:extLst>
      <p:ext uri="{BB962C8B-B14F-4D97-AF65-F5344CB8AC3E}">
        <p14:creationId xmlns:p14="http://schemas.microsoft.com/office/powerpoint/2010/main" val="76191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83470-D1E4-2E90-3673-5D864C5F8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- Finetuning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8C9FA-04B6-C295-C3C8-E6B897035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Sensor data is Time Series data</a:t>
            </a:r>
          </a:p>
          <a:p>
            <a:r>
              <a:rPr lang="en-US" dirty="0"/>
              <a:t>LLM for Time Series</a:t>
            </a:r>
          </a:p>
          <a:p>
            <a:pPr lvl="1"/>
            <a:r>
              <a:rPr lang="en-US" dirty="0" err="1"/>
              <a:t>Timesnet</a:t>
            </a:r>
            <a:endParaRPr lang="en-US" dirty="0"/>
          </a:p>
          <a:p>
            <a:pPr lvl="1"/>
            <a:r>
              <a:rPr lang="en-US" dirty="0"/>
              <a:t>Time-LLM</a:t>
            </a:r>
          </a:p>
          <a:p>
            <a:pPr lvl="2"/>
            <a:r>
              <a:rPr lang="en-US" dirty="0"/>
              <a:t>Based on Llama-2-7B</a:t>
            </a:r>
          </a:p>
          <a:p>
            <a:r>
              <a:rPr lang="en-US" dirty="0" err="1"/>
              <a:t>QLoRA</a:t>
            </a:r>
            <a:endParaRPr lang="en-US" dirty="0"/>
          </a:p>
          <a:p>
            <a:r>
              <a:rPr lang="en-US" dirty="0"/>
              <a:t>RLHF</a:t>
            </a:r>
          </a:p>
        </p:txBody>
      </p:sp>
    </p:spTree>
    <p:extLst>
      <p:ext uri="{BB962C8B-B14F-4D97-AF65-F5344CB8AC3E}">
        <p14:creationId xmlns:p14="http://schemas.microsoft.com/office/powerpoint/2010/main" val="33320544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0616-9AF8-578D-AF2D-32BB8DEE8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pic>
        <p:nvPicPr>
          <p:cNvPr id="5" name="Content Placeholder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22E3A1AE-FB6F-81CC-F392-6FF44C6DF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346" y="1219200"/>
            <a:ext cx="4205307" cy="4525963"/>
          </a:xfrm>
        </p:spPr>
      </p:pic>
    </p:spTree>
    <p:extLst>
      <p:ext uri="{BB962C8B-B14F-4D97-AF65-F5344CB8AC3E}">
        <p14:creationId xmlns:p14="http://schemas.microsoft.com/office/powerpoint/2010/main" val="4253083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3C952-3D31-3F73-8F90-910477BA1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DE18C-1827-2C3E-CE2A-6F3D48A51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Collector</a:t>
            </a:r>
          </a:p>
          <a:p>
            <a:pPr lvl="1"/>
            <a:r>
              <a:rPr lang="en-US" dirty="0"/>
              <a:t>Integration: LLM generates commands via offboard control (</a:t>
            </a:r>
            <a:r>
              <a:rPr lang="en-US" dirty="0" err="1"/>
              <a:t>MAVLink</a:t>
            </a:r>
            <a:r>
              <a:rPr lang="en-US" dirty="0"/>
              <a:t> messages).</a:t>
            </a:r>
          </a:p>
          <a:p>
            <a:pPr lvl="1"/>
            <a:r>
              <a:rPr lang="en-US" dirty="0"/>
              <a:t>Data: µORB topics (position, attitude, sensors), </a:t>
            </a:r>
            <a:r>
              <a:rPr lang="en-US" dirty="0" err="1"/>
              <a:t>MAVLink</a:t>
            </a:r>
            <a:r>
              <a:rPr lang="en-US" dirty="0"/>
              <a:t> traffic.</a:t>
            </a:r>
          </a:p>
          <a:p>
            <a:pPr lvl="1"/>
            <a:r>
              <a:rPr lang="en-US" dirty="0"/>
              <a:t>Generation: Adverse weather, obstacles, missions for training.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27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DA5A4-742F-B0ED-8D8A-DF8060256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9CED1-5D8C-C44A-4156-239C77A96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370EA-A8D0-C704-8D89-735E7942A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Fine tuner</a:t>
            </a:r>
          </a:p>
          <a:p>
            <a:pPr lvl="1"/>
            <a:r>
              <a:rPr lang="en-US" dirty="0"/>
              <a:t>Preprocessor: Preprocess collected data</a:t>
            </a:r>
          </a:p>
          <a:p>
            <a:pPr lvl="1"/>
            <a:r>
              <a:rPr lang="en-US" dirty="0"/>
              <a:t>Fine tune: Train foundation models using preprocessed data</a:t>
            </a:r>
          </a:p>
          <a:p>
            <a:pPr lvl="1"/>
            <a:r>
              <a:rPr lang="en-US" dirty="0"/>
              <a:t>Deploy fine tuned models</a:t>
            </a:r>
          </a:p>
          <a:p>
            <a:pPr lvl="2"/>
            <a:r>
              <a:rPr lang="en-US" dirty="0"/>
              <a:t>Onboard</a:t>
            </a:r>
          </a:p>
          <a:p>
            <a:pPr lvl="2"/>
            <a:r>
              <a:rPr lang="en-US" dirty="0"/>
              <a:t>Edge</a:t>
            </a:r>
          </a:p>
          <a:p>
            <a:pPr lvl="2"/>
            <a:r>
              <a:rPr lang="en-US" dirty="0"/>
              <a:t>Cloud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1726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601DC-3DCA-B0D1-D0D8-CAD7AD54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E2BB3-7401-9BE4-5B78-64CE4A5C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16651-E6D8-A36F-4B44-E1867E3A7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Online Controller</a:t>
            </a:r>
          </a:p>
          <a:p>
            <a:pPr lvl="1"/>
            <a:r>
              <a:rPr lang="en-US" dirty="0"/>
              <a:t>Monitor sensor data</a:t>
            </a:r>
          </a:p>
          <a:p>
            <a:pPr lvl="1"/>
            <a:r>
              <a:rPr lang="en-US" dirty="0"/>
              <a:t>Infer if anomalous</a:t>
            </a:r>
          </a:p>
          <a:p>
            <a:pPr lvl="1"/>
            <a:r>
              <a:rPr lang="en-US" dirty="0"/>
              <a:t>Mitigate attack</a:t>
            </a:r>
          </a:p>
        </p:txBody>
      </p:sp>
    </p:spTree>
    <p:extLst>
      <p:ext uri="{BB962C8B-B14F-4D97-AF65-F5344CB8AC3E}">
        <p14:creationId xmlns:p14="http://schemas.microsoft.com/office/powerpoint/2010/main" val="4397703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BA938-966C-6D31-F920-8F611D0B8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817D0-DB53-970A-B274-7087CFEB2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4158B-1324-6EC7-736E-2C515C876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Offline Processor</a:t>
            </a:r>
          </a:p>
          <a:p>
            <a:pPr lvl="1"/>
            <a:r>
              <a:rPr lang="en-US" dirty="0"/>
              <a:t>Evaluate performance</a:t>
            </a:r>
          </a:p>
          <a:p>
            <a:pPr lvl="1"/>
            <a:r>
              <a:rPr lang="en-US" dirty="0"/>
              <a:t>Adjust parameters if needed</a:t>
            </a:r>
          </a:p>
        </p:txBody>
      </p:sp>
    </p:spTree>
    <p:extLst>
      <p:ext uri="{BB962C8B-B14F-4D97-AF65-F5344CB8AC3E}">
        <p14:creationId xmlns:p14="http://schemas.microsoft.com/office/powerpoint/2010/main" val="37428451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DA0A-1177-B4F5-5C07-3142A0DF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AD423-CB8B-06F9-EA37-12EE11A74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Attacks: Network (jamming/spoofing/MITM), sensor manipulation, software vulns, insider threats.</a:t>
            </a:r>
          </a:p>
          <a:p>
            <a:r>
              <a:rPr lang="en-US" dirty="0"/>
              <a:t>Infrastructure: Reliable network, GPUs at edge/cloud.</a:t>
            </a:r>
          </a:p>
          <a:p>
            <a:r>
              <a:rPr lang="en-US" dirty="0"/>
              <a:t>Launched Attacks: MAC spoofing, session hijacking, etc. (C, P, I, A impacted).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858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0128-1CB2-CC66-CC9B-94AA0C97D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0B4E4-E146-ED61-92D3-083F3473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C31030-37AD-8436-C32E-85355B59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495799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CAF06DFD-18D9-7A5F-8A56-AD53C4977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77" y="1441357"/>
            <a:ext cx="659725" cy="659725"/>
          </a:xfrm>
          <a:prstGeom prst="rect">
            <a:avLst/>
          </a:prstGeom>
        </p:spPr>
      </p:pic>
      <p:sp>
        <p:nvSpPr>
          <p:cNvPr id="36" name="Text 3">
            <a:extLst>
              <a:ext uri="{FF2B5EF4-FFF2-40B4-BE49-F238E27FC236}">
                <a16:creationId xmlns:a16="http://schemas.microsoft.com/office/drawing/2014/main" id="{BE8D3F9F-40FD-8A6C-D621-B8A0F329348B}"/>
              </a:ext>
            </a:extLst>
          </p:cNvPr>
          <p:cNvSpPr/>
          <p:nvPr/>
        </p:nvSpPr>
        <p:spPr>
          <a:xfrm>
            <a:off x="1389523" y="1651584"/>
            <a:ext cx="2865834" cy="41231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247"/>
              </a:lnSpc>
              <a:buNone/>
            </a:pPr>
            <a:r>
              <a:rPr lang="en-US" sz="2800" b="1" kern="0" spc="-78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Network Attacks</a:t>
            </a:r>
            <a:endParaRPr lang="en-US" sz="28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956C7D-D73A-8381-FBAD-D522C6D988EF}"/>
              </a:ext>
            </a:extLst>
          </p:cNvPr>
          <p:cNvSpPr txBox="1"/>
          <p:nvPr/>
        </p:nvSpPr>
        <p:spPr>
          <a:xfrm>
            <a:off x="4495800" y="1524000"/>
            <a:ext cx="4083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spc="-42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Unauthorized access, data breaches, and disruption of communication channels.</a:t>
            </a:r>
            <a:endParaRPr lang="en-US" dirty="0"/>
          </a:p>
        </p:txBody>
      </p:sp>
      <p:pic>
        <p:nvPicPr>
          <p:cNvPr id="41" name="Image 1" descr="preencoded.png">
            <a:extLst>
              <a:ext uri="{FF2B5EF4-FFF2-40B4-BE49-F238E27FC236}">
                <a16:creationId xmlns:a16="http://schemas.microsoft.com/office/drawing/2014/main" id="{66222679-D5CE-3B46-4C1F-657BD7FF4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76" y="2583154"/>
            <a:ext cx="541046" cy="541046"/>
          </a:xfrm>
          <a:prstGeom prst="rect">
            <a:avLst/>
          </a:prstGeom>
        </p:spPr>
      </p:pic>
      <p:sp>
        <p:nvSpPr>
          <p:cNvPr id="42" name="Text 5">
            <a:extLst>
              <a:ext uri="{FF2B5EF4-FFF2-40B4-BE49-F238E27FC236}">
                <a16:creationId xmlns:a16="http://schemas.microsoft.com/office/drawing/2014/main" id="{800EF7C5-FA34-AD98-E81B-6B59152B30C1}"/>
              </a:ext>
            </a:extLst>
          </p:cNvPr>
          <p:cNvSpPr/>
          <p:nvPr/>
        </p:nvSpPr>
        <p:spPr>
          <a:xfrm>
            <a:off x="1422248" y="2429470"/>
            <a:ext cx="3149752" cy="9233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247"/>
              </a:lnSpc>
              <a:buNone/>
            </a:pPr>
            <a:r>
              <a:rPr lang="en-US" sz="2800" b="1" kern="0" spc="-78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Sensor Manipulation Attacks</a:t>
            </a:r>
            <a:endParaRPr lang="en-US" sz="2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5D16E4-DBFA-BF12-57F9-27CADDEBC470}"/>
              </a:ext>
            </a:extLst>
          </p:cNvPr>
          <p:cNvSpPr txBox="1"/>
          <p:nvPr/>
        </p:nvSpPr>
        <p:spPr>
          <a:xfrm>
            <a:off x="4572000" y="2286000"/>
            <a:ext cx="4083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spc="-42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Adversaries may attempt to tamper with or spoof sensor data, leading to incorrect decisions and catastrophic consequences.</a:t>
            </a:r>
          </a:p>
        </p:txBody>
      </p:sp>
      <p:pic>
        <p:nvPicPr>
          <p:cNvPr id="44" name="Image 2" descr="preencoded.png">
            <a:extLst>
              <a:ext uri="{FF2B5EF4-FFF2-40B4-BE49-F238E27FC236}">
                <a16:creationId xmlns:a16="http://schemas.microsoft.com/office/drawing/2014/main" id="{C36BC4A3-70F7-BB74-CCFD-68F257B16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75" y="3657600"/>
            <a:ext cx="659725" cy="659725"/>
          </a:xfrm>
          <a:prstGeom prst="rect">
            <a:avLst/>
          </a:prstGeom>
        </p:spPr>
      </p:pic>
      <p:sp>
        <p:nvSpPr>
          <p:cNvPr id="45" name="Text 7">
            <a:extLst>
              <a:ext uri="{FF2B5EF4-FFF2-40B4-BE49-F238E27FC236}">
                <a16:creationId xmlns:a16="http://schemas.microsoft.com/office/drawing/2014/main" id="{7EB74E87-CF51-86A4-DE2A-8A73F286943A}"/>
              </a:ext>
            </a:extLst>
          </p:cNvPr>
          <p:cNvSpPr/>
          <p:nvPr/>
        </p:nvSpPr>
        <p:spPr>
          <a:xfrm>
            <a:off x="1477566" y="3581400"/>
            <a:ext cx="2865834" cy="8246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247"/>
              </a:lnSpc>
              <a:buNone/>
            </a:pPr>
            <a:r>
              <a:rPr lang="en-US" sz="2800" b="1" kern="0" spc="-78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Software vulnerabilities</a:t>
            </a:r>
            <a:endParaRPr lang="en-US" sz="28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89EFD1-2267-29C6-CD22-2CE29DF04822}"/>
              </a:ext>
            </a:extLst>
          </p:cNvPr>
          <p:cNvSpPr txBox="1"/>
          <p:nvPr/>
        </p:nvSpPr>
        <p:spPr>
          <a:xfrm>
            <a:off x="4648200" y="3219271"/>
            <a:ext cx="4083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spc="-42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Software/firmware vulnerabilities may lead to the compromise of confidentiality, integrity, availability and authenticity of the UAV system.</a:t>
            </a:r>
          </a:p>
        </p:txBody>
      </p:sp>
      <p:pic>
        <p:nvPicPr>
          <p:cNvPr id="47" name="Image 3" descr="preencoded.png">
            <a:extLst>
              <a:ext uri="{FF2B5EF4-FFF2-40B4-BE49-F238E27FC236}">
                <a16:creationId xmlns:a16="http://schemas.microsoft.com/office/drawing/2014/main" id="{1845C06F-A4D1-4E7E-6C37-FC32094B2D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475" y="4674275"/>
            <a:ext cx="659725" cy="659725"/>
          </a:xfrm>
          <a:prstGeom prst="rect">
            <a:avLst/>
          </a:prstGeom>
        </p:spPr>
      </p:pic>
      <p:sp>
        <p:nvSpPr>
          <p:cNvPr id="48" name="Text 9">
            <a:extLst>
              <a:ext uri="{FF2B5EF4-FFF2-40B4-BE49-F238E27FC236}">
                <a16:creationId xmlns:a16="http://schemas.microsoft.com/office/drawing/2014/main" id="{AECB96B3-6518-9838-5FAA-8CF0F4C3C6B9}"/>
              </a:ext>
            </a:extLst>
          </p:cNvPr>
          <p:cNvSpPr/>
          <p:nvPr/>
        </p:nvSpPr>
        <p:spPr>
          <a:xfrm>
            <a:off x="1477447" y="4822662"/>
            <a:ext cx="2865953" cy="41231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247"/>
              </a:lnSpc>
              <a:buNone/>
            </a:pPr>
            <a:r>
              <a:rPr lang="en-US" sz="2800" b="1" kern="0" spc="-78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Insider threats</a:t>
            </a:r>
            <a:endParaRPr lang="en-US" sz="28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826325-85A0-EDCD-C9C0-0F9A187B19CD}"/>
              </a:ext>
            </a:extLst>
          </p:cNvPr>
          <p:cNvSpPr txBox="1"/>
          <p:nvPr/>
        </p:nvSpPr>
        <p:spPr>
          <a:xfrm>
            <a:off x="4648200" y="4514671"/>
            <a:ext cx="4083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spc="-42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Malicious insiders with access to the UAV system potentially sabotage operations or leak sensitive information.</a:t>
            </a:r>
          </a:p>
        </p:txBody>
      </p:sp>
    </p:spTree>
    <p:extLst>
      <p:ext uri="{BB962C8B-B14F-4D97-AF65-F5344CB8AC3E}">
        <p14:creationId xmlns:p14="http://schemas.microsoft.com/office/powerpoint/2010/main" val="2860007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2" grpId="0" animBg="1"/>
      <p:bldP spid="45" grpId="0" animBg="1"/>
      <p:bldP spid="4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05AC3-08AD-59F7-5A5A-E356595C8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916C1-9A03-052C-0A80-D230371C9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Process: Train foundation model with domain data for prompt-based inference.</a:t>
            </a:r>
          </a:p>
          <a:p>
            <a:r>
              <a:rPr lang="en-US" sz="2800" dirty="0"/>
              <a:t>Data: TCP/UDP (headers: ports, seq, ack), </a:t>
            </a:r>
            <a:r>
              <a:rPr lang="en-US" sz="2800" dirty="0" err="1"/>
              <a:t>MavLink</a:t>
            </a:r>
            <a:r>
              <a:rPr lang="en-US" sz="2800" dirty="0"/>
              <a:t> sensors (time-series from </a:t>
            </a:r>
            <a:r>
              <a:rPr lang="en-US" sz="2800" dirty="0" err="1"/>
              <a:t>Ulog</a:t>
            </a:r>
            <a:r>
              <a:rPr lang="en-US" sz="2800" dirty="0"/>
              <a:t> to CSV).</a:t>
            </a:r>
          </a:p>
          <a:p>
            <a:r>
              <a:rPr lang="en-US" sz="2800" dirty="0"/>
              <a:t>Models: </a:t>
            </a:r>
            <a:r>
              <a:rPr lang="en-US" sz="2800" dirty="0" err="1"/>
              <a:t>TimesNet</a:t>
            </a:r>
            <a:r>
              <a:rPr lang="en-US" sz="2800" dirty="0"/>
              <a:t> (anomaly), Time-LLM (forecasting).</a:t>
            </a:r>
          </a:p>
          <a:p>
            <a:r>
              <a:rPr lang="en-US" sz="2800" dirty="0"/>
              <a:t>Techniques: SFT, RLHF, QLORA (params in table 3.4).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077387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45668-5E84-9753-DC90-69285409D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C1859-97F9-C343-59C9-9EB5C0D4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42903-7936-E8BA-5652-9CF9F8A87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Research Paper: </a:t>
            </a:r>
          </a:p>
          <a:p>
            <a:pPr marL="0" indent="0">
              <a:buNone/>
            </a:pPr>
            <a:r>
              <a:rPr lang="en-US" sz="2000" dirty="0"/>
              <a:t>B. Dharmalingam, B. Piggott, G. Feng, R. Mukherjee, and A. Liu. Aero-LLM: A distributed framework for secure UAV communication and intelligent decision-making. In Proceedings of the ICCCN 2024 Conference. IEEE, 2024</a:t>
            </a:r>
          </a:p>
          <a:p>
            <a:r>
              <a:rPr lang="en-US" sz="2800" dirty="0"/>
              <a:t>2 Models for different tasks:</a:t>
            </a:r>
          </a:p>
          <a:p>
            <a:pPr lvl="1"/>
            <a:r>
              <a:rPr lang="en-US" sz="2400" dirty="0" err="1"/>
              <a:t>TimesNet</a:t>
            </a:r>
            <a:r>
              <a:rPr lang="en-US" sz="2400" dirty="0"/>
              <a:t> – Anomaly Detection</a:t>
            </a:r>
          </a:p>
          <a:p>
            <a:pPr lvl="1"/>
            <a:r>
              <a:rPr lang="en-US" sz="2400" dirty="0" err="1"/>
              <a:t>TimesLLM</a:t>
            </a:r>
            <a:r>
              <a:rPr lang="en-US" sz="2400" dirty="0"/>
              <a:t> – Forecasting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132540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B5D59-F81D-6CB5-7F1D-30A3736A4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94B68-679B-D9D9-336F-44CCBF7A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 - </a:t>
            </a:r>
            <a:r>
              <a:rPr lang="en-US" dirty="0" err="1"/>
              <a:t>TimesNet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A44AC-F268-1146-5A05-3FFAC0FAD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800" dirty="0" err="1"/>
              <a:t>TimesNet</a:t>
            </a:r>
            <a:r>
              <a:rPr lang="en-US" sz="2800" dirty="0"/>
              <a:t> Tuning</a:t>
            </a:r>
          </a:p>
          <a:p>
            <a:pPr lvl="1"/>
            <a:r>
              <a:rPr lang="en-US" sz="2400" dirty="0"/>
              <a:t>Collect UAV sensor data, such as altitude and GPS coordinates</a:t>
            </a:r>
          </a:p>
          <a:p>
            <a:pPr lvl="1"/>
            <a:r>
              <a:rPr lang="en-US" sz="2400" dirty="0"/>
              <a:t>Preprocess data that includes imputation of missing values and feature scaling</a:t>
            </a:r>
          </a:p>
          <a:p>
            <a:pPr lvl="1"/>
            <a:r>
              <a:rPr lang="en-US" sz="2400" dirty="0"/>
              <a:t>Divide the dataset into subsets, ensuring a mix of normal and anomalous points, and label them</a:t>
            </a:r>
          </a:p>
          <a:p>
            <a:pPr lvl="1"/>
            <a:r>
              <a:rPr lang="en-US" sz="2400" dirty="0"/>
              <a:t>Initialize with pre-trained weights, then set the fine-tuning parameters, such as sequence length and learning rate</a:t>
            </a:r>
          </a:p>
          <a:p>
            <a:pPr lvl="1"/>
            <a:r>
              <a:rPr lang="en-US" sz="2400" dirty="0"/>
              <a:t>Training on the dataset until performance plateaus</a:t>
            </a:r>
          </a:p>
          <a:p>
            <a:pPr lvl="1"/>
            <a:r>
              <a:rPr lang="en-US" sz="2400" dirty="0"/>
              <a:t>The refined model is saved and ready for real-time anomaly detection in UAV operations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389860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3CF0F-AE74-D809-F353-A4D6E53DD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E3BE-7180-35A0-5BFE-1C78418BF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 – Time-LLM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12B24-E881-04E9-359A-8521D1993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800" dirty="0"/>
              <a:t>Time-LLM Tuning</a:t>
            </a:r>
          </a:p>
          <a:p>
            <a:pPr lvl="1"/>
            <a:r>
              <a:rPr lang="en-US" sz="2400" dirty="0"/>
              <a:t>Collect UAV sensor data, such as IMU</a:t>
            </a:r>
          </a:p>
          <a:p>
            <a:pPr lvl="1"/>
            <a:r>
              <a:rPr lang="en-US" sz="2400" dirty="0"/>
              <a:t>Preprocess data filling in missing values, normalization</a:t>
            </a:r>
          </a:p>
          <a:p>
            <a:pPr lvl="1"/>
            <a:r>
              <a:rPr lang="en-US" sz="2400" dirty="0"/>
              <a:t>Divide the dataset into training, validation, and test subsets</a:t>
            </a:r>
          </a:p>
          <a:p>
            <a:pPr lvl="1"/>
            <a:r>
              <a:rPr lang="en-US" sz="2400" dirty="0"/>
              <a:t>Initialize with pre-trained weights, then set the fine-tuning parameters, such as sequence length and learning rate</a:t>
            </a:r>
          </a:p>
          <a:p>
            <a:pPr lvl="1"/>
            <a:r>
              <a:rPr lang="en-US" sz="2400" dirty="0"/>
              <a:t>Tokenize data to match Time-LLM's language</a:t>
            </a:r>
          </a:p>
          <a:p>
            <a:pPr lvl="1"/>
            <a:r>
              <a:rPr lang="en-US" sz="2400" dirty="0"/>
              <a:t>Train on the dataset until performance plateaus</a:t>
            </a:r>
          </a:p>
          <a:p>
            <a:pPr lvl="1"/>
            <a:r>
              <a:rPr lang="en-US" sz="2400" dirty="0"/>
              <a:t>Evaluate on the test set to gauge its forecasting performance such as accuracy and precision by calculating MAE and MSE</a:t>
            </a:r>
          </a:p>
          <a:p>
            <a:pPr lvl="1"/>
            <a:r>
              <a:rPr lang="en-US" sz="2400" dirty="0"/>
              <a:t> The optimized model is saved for future predictions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8842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8157B-9FDD-5FDB-5DF3-630DD603B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 for Fine Tuning</a:t>
            </a:r>
          </a:p>
        </p:txBody>
      </p:sp>
      <p:pic>
        <p:nvPicPr>
          <p:cNvPr id="9" name="Content Placeholder 8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54D7ECD5-0C2F-F40E-BEE9-AFDD1BC84B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83" y="2209801"/>
            <a:ext cx="8828617" cy="3310731"/>
          </a:xfrm>
        </p:spPr>
      </p:pic>
    </p:spTree>
    <p:extLst>
      <p:ext uri="{BB962C8B-B14F-4D97-AF65-F5344CB8AC3E}">
        <p14:creationId xmlns:p14="http://schemas.microsoft.com/office/powerpoint/2010/main" val="26983824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1918D-8112-670A-E2DC-D0E5216D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8F491-2BEC-D549-39F2-917AC3C4B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AC55EC6F-647D-71D9-BB3D-1A934DE8A2AA}"/>
              </a:ext>
            </a:extLst>
          </p:cNvPr>
          <p:cNvSpPr/>
          <p:nvPr/>
        </p:nvSpPr>
        <p:spPr>
          <a:xfrm>
            <a:off x="4834136" y="1600200"/>
            <a:ext cx="3829840" cy="4093041"/>
          </a:xfrm>
          <a:prstGeom prst="roundRect">
            <a:avLst>
              <a:gd name="adj" fmla="val 4379"/>
            </a:avLst>
          </a:prstGeom>
          <a:solidFill>
            <a:srgbClr val="DADBF1"/>
          </a:solidFill>
          <a:ln w="1524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DFA1C38D-9F7A-A11C-ECBE-E261A4E0DD8A}"/>
              </a:ext>
            </a:extLst>
          </p:cNvPr>
          <p:cNvSpPr/>
          <p:nvPr/>
        </p:nvSpPr>
        <p:spPr>
          <a:xfrm>
            <a:off x="4942839" y="1687841"/>
            <a:ext cx="3755035" cy="7315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247"/>
              </a:lnSpc>
              <a:buNone/>
            </a:pPr>
            <a:r>
              <a:rPr lang="en-US" sz="2598" b="1" kern="0" spc="-78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Variance of Anomalous Data</a:t>
            </a:r>
            <a:endParaRPr lang="en-US" sz="2598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1438B81-6E86-E199-B8C3-72B547924DD7}"/>
              </a:ext>
            </a:extLst>
          </p:cNvPr>
          <p:cNvSpPr/>
          <p:nvPr/>
        </p:nvSpPr>
        <p:spPr>
          <a:xfrm>
            <a:off x="4856960" y="2064227"/>
            <a:ext cx="3829840" cy="36290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117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Resilience of </a:t>
            </a:r>
            <a:r>
              <a:rPr lang="en-US" sz="2000" b="1" dirty="0" err="1">
                <a:solidFill>
                  <a:schemeClr val="bg2">
                    <a:lumMod val="10000"/>
                  </a:schemeClr>
                </a:solidFill>
              </a:rPr>
              <a:t>TimesNet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Can handle variations in the data without significant degradation in performance</a:t>
            </a:r>
          </a:p>
          <a:p>
            <a:pPr marL="342900" indent="-342900">
              <a:lnSpc>
                <a:spcPts val="3117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Performance Metrics Stability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Metrics remain largely unaffected despite the variance</a:t>
            </a:r>
          </a:p>
          <a:p>
            <a:pPr marL="342900" indent="-342900">
              <a:lnSpc>
                <a:spcPts val="3117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Effective Anomaly Detection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Consistently identifies anomalies effectively</a:t>
            </a:r>
            <a:endParaRPr lang="en-US" sz="48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87A9D3-C994-E5E1-5904-4AD7CE52E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00200"/>
            <a:ext cx="4191000" cy="409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96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095CE-5DB3-D313-B1A8-282ADA06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0F212-FC42-902D-FBA0-6F99113F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DCEA6-2E68-31E2-C233-620DA3915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14730037-10C5-03D7-22A3-D6C40F2CD184}"/>
              </a:ext>
            </a:extLst>
          </p:cNvPr>
          <p:cNvSpPr/>
          <p:nvPr/>
        </p:nvSpPr>
        <p:spPr>
          <a:xfrm>
            <a:off x="4157041" y="1600199"/>
            <a:ext cx="4834559" cy="4206499"/>
          </a:xfrm>
          <a:prstGeom prst="roundRect">
            <a:avLst>
              <a:gd name="adj" fmla="val 4379"/>
            </a:avLst>
          </a:prstGeom>
          <a:solidFill>
            <a:srgbClr val="DADBF1"/>
          </a:solidFill>
          <a:ln w="1524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9609778B-7F85-5020-950B-B1F2DE6BE7B5}"/>
              </a:ext>
            </a:extLst>
          </p:cNvPr>
          <p:cNvSpPr/>
          <p:nvPr/>
        </p:nvSpPr>
        <p:spPr>
          <a:xfrm>
            <a:off x="4157042" y="1694827"/>
            <a:ext cx="2678857" cy="90527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247"/>
              </a:lnSpc>
              <a:buNone/>
            </a:pPr>
            <a:r>
              <a:rPr lang="en-US" sz="2598" b="1" kern="0" spc="-78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Impact of Batch Size</a:t>
            </a:r>
            <a:endParaRPr lang="en-US" sz="2598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9793419B-88AC-ECAB-F503-4CF6F7BFC19D}"/>
              </a:ext>
            </a:extLst>
          </p:cNvPr>
          <p:cNvSpPr/>
          <p:nvPr/>
        </p:nvSpPr>
        <p:spPr>
          <a:xfrm>
            <a:off x="4157043" y="2321021"/>
            <a:ext cx="4933025" cy="35463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117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Batch Size of 48 and Above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Batch sizes of 48 and higher significantly reduce the elapsed processing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Increasing the batch size beyond 48 does not proportionally reduce the elapsed time</a:t>
            </a:r>
          </a:p>
          <a:p>
            <a:pPr marL="342900" indent="-342900">
              <a:lnSpc>
                <a:spcPts val="3117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Optimization Insights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Larger batch sizes no longer contribute to significant time savings.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Batch size of 48 is optimal for balancing performance and processing efficiency.</a:t>
            </a:r>
          </a:p>
          <a:p>
            <a:pPr marL="800100" lvl="1" indent="-342900">
              <a:lnSpc>
                <a:spcPts val="3117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29ED90-278F-9413-3BD3-90D666520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1"/>
            <a:ext cx="3581400" cy="420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1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7C580-75A4-7BD0-3284-684AB76A4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Metrics</a:t>
            </a:r>
            <a:endParaRPr lang="en-US" dirty="0"/>
          </a:p>
        </p:txBody>
      </p:sp>
      <p:pic>
        <p:nvPicPr>
          <p:cNvPr id="5" name="Content Placeholder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3B217E3E-1FEF-B0B4-AB72-7803F2DB3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001" y="1417638"/>
            <a:ext cx="6029997" cy="4449763"/>
          </a:xfrm>
        </p:spPr>
      </p:pic>
    </p:spTree>
    <p:extLst>
      <p:ext uri="{BB962C8B-B14F-4D97-AF65-F5344CB8AC3E}">
        <p14:creationId xmlns:p14="http://schemas.microsoft.com/office/powerpoint/2010/main" val="13026581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CA28-83AA-BD77-D64A-72EE8534D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98E97-549F-D596-C1B9-AB6BFAB74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Distributed: Onboard (lightweight for anomaly/decisions), Edge (fusion/analysis), Cloud (analysis/simulations).</a:t>
            </a:r>
          </a:p>
          <a:p>
            <a:r>
              <a:rPr lang="en-US" dirty="0"/>
              <a:t>Subsystems: Data Collector, Fine-Tuner (pre-processing), Online Controller, Offline Processor.</a:t>
            </a:r>
          </a:p>
          <a:p>
            <a:r>
              <a:rPr lang="en-US" dirty="0"/>
              <a:t>Workflow: Collect → Preprocess → Tune → Deploy → Evaluate → Harden.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5470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4D06F-E8D8-112D-EC94-6396BFFEA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2D21E-7D7A-E504-1E93-6DF7F2785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Models: </a:t>
            </a:r>
            <a:r>
              <a:rPr lang="en-US" sz="2800" dirty="0" err="1"/>
              <a:t>TimesNet</a:t>
            </a:r>
            <a:r>
              <a:rPr lang="en-US" sz="2800" dirty="0"/>
              <a:t> (sentinel), Time-LLM (forecaster), LLM </a:t>
            </a:r>
            <a:r>
              <a:rPr lang="en-US" sz="2800" dirty="0" err="1"/>
              <a:t>Toolformer</a:t>
            </a:r>
            <a:r>
              <a:rPr lang="en-US" sz="2800" dirty="0"/>
              <a:t> (policy).</a:t>
            </a:r>
          </a:p>
          <a:p>
            <a:r>
              <a:rPr lang="en-US" sz="2800" dirty="0"/>
              <a:t>Foundations: SFT, RLHF, </a:t>
            </a:r>
            <a:r>
              <a:rPr lang="en-US" sz="2800" dirty="0" err="1"/>
              <a:t>ZeRO</a:t>
            </a:r>
            <a:r>
              <a:rPr lang="en-US" sz="2800" dirty="0"/>
              <a:t>/PEFT for efficiency.</a:t>
            </a:r>
          </a:p>
          <a:p>
            <a:r>
              <a:rPr lang="en-US" sz="2800" dirty="0"/>
              <a:t>Data Pipeline: Acquisition, Preprocessing, Feature Eng.</a:t>
            </a:r>
          </a:p>
          <a:p>
            <a:r>
              <a:rPr lang="en-US" sz="2800" dirty="0"/>
              <a:t>Distributed: Onboard (low latency), Edge (higher capacity), Cloud (batch).</a:t>
            </a:r>
          </a:p>
          <a:p>
            <a:r>
              <a:rPr lang="en-US" sz="2800" dirty="0"/>
              <a:t>Assumptions: PX4 stack, intermittent links, heterogeneous compute, adversaries.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639054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7B60C-9BFB-CFBF-1019-93D37C23A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&amp; 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30F2F-D3BF-4734-9E7F-1FEE3A346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HGDAVE Dataset: For </a:t>
            </a:r>
            <a:r>
              <a:rPr lang="en-US" dirty="0" err="1"/>
              <a:t>UASes</a:t>
            </a:r>
            <a:r>
              <a:rPr lang="en-US" dirty="0"/>
              <a:t>, from scripts, fuzzing, exploits; use Digital Twin.</a:t>
            </a:r>
          </a:p>
          <a:p>
            <a:r>
              <a:rPr lang="en-US" dirty="0"/>
              <a:t>Robust, relevant for LLM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3846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7FA0-A7E6-6771-24A4-689BA4902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Outcomes - Malicious UAV Model (Net-GPT)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58E54-08B6-F0D6-651D-18D0A9EEF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Analyzes/executes MITM; synthetic packets via LLMs.</a:t>
            </a:r>
          </a:p>
          <a:p>
            <a:r>
              <a:rPr lang="en-US" dirty="0"/>
              <a:t>Evaluation: Llama-2-13B/7B ~95% accuracy; smaller models ~75%.</a:t>
            </a:r>
          </a:p>
          <a:p>
            <a:r>
              <a:rPr lang="en-US" dirty="0"/>
              <a:t>Cost-Efficiency: Analyzed for configs (fig 4.1).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7920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FAE1-45D3-4B3B-81D2-0BF25FA8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Timeline – Roadmap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118753-D8BA-49E9-9D33-49BAC72CEE8A}"/>
              </a:ext>
            </a:extLst>
          </p:cNvPr>
          <p:cNvGrpSpPr/>
          <p:nvPr/>
        </p:nvGrpSpPr>
        <p:grpSpPr>
          <a:xfrm>
            <a:off x="5260112" y="2172545"/>
            <a:ext cx="1191086" cy="1867114"/>
            <a:chOff x="9254510" y="1753726"/>
            <a:chExt cx="1588115" cy="2489485"/>
          </a:xfrm>
        </p:grpSpPr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AA760911-A7BE-487D-9804-ED9DEF621C03}"/>
                </a:ext>
              </a:extLst>
            </p:cNvPr>
            <p:cNvSpPr/>
            <p:nvPr/>
          </p:nvSpPr>
          <p:spPr>
            <a:xfrm>
              <a:off x="9666557" y="3067143"/>
              <a:ext cx="1176068" cy="1176068"/>
            </a:xfrm>
            <a:prstGeom prst="arc">
              <a:avLst>
                <a:gd name="adj1" fmla="val 15956854"/>
                <a:gd name="adj2" fmla="val 10795556"/>
              </a:avLst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2600DA7-3708-4626-9CB1-5AB1EDF2F8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54510" y="3655936"/>
              <a:ext cx="428716" cy="0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D21693D-34BD-4808-AEAC-66367B233E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08272" y="1753726"/>
              <a:ext cx="0" cy="1333939"/>
            </a:xfrm>
            <a:prstGeom prst="line">
              <a:avLst/>
            </a:prstGeom>
            <a:ln w="38100">
              <a:solidFill>
                <a:schemeClr val="accent6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8D5110B-CA99-477C-AD76-A80475657E47}"/>
                </a:ext>
              </a:extLst>
            </p:cNvPr>
            <p:cNvSpPr/>
            <p:nvPr/>
          </p:nvSpPr>
          <p:spPr>
            <a:xfrm>
              <a:off x="9814281" y="3214866"/>
              <a:ext cx="880621" cy="880621"/>
            </a:xfrm>
            <a:prstGeom prst="ellipse">
              <a:avLst/>
            </a:prstGeom>
            <a:gradFill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87420">
                  <a:srgbClr val="FF8F29"/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</a:gradFill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DB02499-4AFF-4271-9833-DCEFCE0DD019}"/>
              </a:ext>
            </a:extLst>
          </p:cNvPr>
          <p:cNvGrpSpPr/>
          <p:nvPr/>
        </p:nvGrpSpPr>
        <p:grpSpPr>
          <a:xfrm>
            <a:off x="4012800" y="3173196"/>
            <a:ext cx="1247313" cy="1867114"/>
            <a:chOff x="6877143" y="3087927"/>
            <a:chExt cx="1663084" cy="2489485"/>
          </a:xfrm>
        </p:grpSpPr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5036E200-1AC1-4BF9-BAE6-01631F771855}"/>
                </a:ext>
              </a:extLst>
            </p:cNvPr>
            <p:cNvSpPr/>
            <p:nvPr/>
          </p:nvSpPr>
          <p:spPr>
            <a:xfrm rot="10800000">
              <a:off x="7364159" y="3087927"/>
              <a:ext cx="1176068" cy="1176068"/>
            </a:xfrm>
            <a:prstGeom prst="arc">
              <a:avLst>
                <a:gd name="adj1" fmla="val 10895"/>
                <a:gd name="adj2" fmla="val 15969831"/>
              </a:avLst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98923D9-EFC6-4088-A47D-C6025BE70594}"/>
                </a:ext>
              </a:extLst>
            </p:cNvPr>
            <p:cNvCxnSpPr>
              <a:cxnSpLocks/>
            </p:cNvCxnSpPr>
            <p:nvPr/>
          </p:nvCxnSpPr>
          <p:spPr>
            <a:xfrm>
              <a:off x="6877143" y="3655936"/>
              <a:ext cx="487015" cy="263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BA6BC1F-AF2A-4B96-A772-42ED6EAB79A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998512" y="4243473"/>
              <a:ext cx="0" cy="1333939"/>
            </a:xfrm>
            <a:prstGeom prst="line">
              <a:avLst/>
            </a:prstGeom>
            <a:ln w="38100">
              <a:solidFill>
                <a:schemeClr val="accent5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0168A95-B1A9-458A-8900-CEC484107059}"/>
                </a:ext>
              </a:extLst>
            </p:cNvPr>
            <p:cNvSpPr/>
            <p:nvPr/>
          </p:nvSpPr>
          <p:spPr>
            <a:xfrm>
              <a:off x="7511883" y="3235650"/>
              <a:ext cx="880621" cy="880621"/>
            </a:xfrm>
            <a:prstGeom prst="ellipse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4D8747-72CF-4800-9B98-059E04487BAC}"/>
              </a:ext>
            </a:extLst>
          </p:cNvPr>
          <p:cNvGrpSpPr/>
          <p:nvPr/>
        </p:nvGrpSpPr>
        <p:grpSpPr>
          <a:xfrm>
            <a:off x="2642970" y="2172545"/>
            <a:ext cx="1369829" cy="1867114"/>
            <a:chOff x="4381880" y="1753726"/>
            <a:chExt cx="1826439" cy="2489485"/>
          </a:xfrm>
        </p:grpSpPr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AB75F2D9-A6EE-4B9D-87C5-12A636DE8080}"/>
                </a:ext>
              </a:extLst>
            </p:cNvPr>
            <p:cNvSpPr/>
            <p:nvPr/>
          </p:nvSpPr>
          <p:spPr>
            <a:xfrm>
              <a:off x="5032251" y="3067143"/>
              <a:ext cx="1176068" cy="1176068"/>
            </a:xfrm>
            <a:prstGeom prst="arc">
              <a:avLst>
                <a:gd name="adj1" fmla="val 15956854"/>
                <a:gd name="adj2" fmla="val 10795556"/>
              </a:avLst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29BE4CA-4DE4-46D1-9EA4-713C5A5B81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81880" y="3655936"/>
              <a:ext cx="667040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1B56612-7FE7-423C-A559-D42A5561D5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3966" y="1753726"/>
              <a:ext cx="0" cy="1333939"/>
            </a:xfrm>
            <a:prstGeom prst="line">
              <a:avLst/>
            </a:prstGeom>
            <a:ln w="38100">
              <a:solidFill>
                <a:schemeClr val="accent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3819E03-ED4C-46E6-9D3D-83BAB914A6DE}"/>
                </a:ext>
              </a:extLst>
            </p:cNvPr>
            <p:cNvSpPr/>
            <p:nvPr/>
          </p:nvSpPr>
          <p:spPr>
            <a:xfrm>
              <a:off x="5179975" y="3214866"/>
              <a:ext cx="880621" cy="88062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4BE9EE-1864-4782-8A5A-015407E47AF3}"/>
              </a:ext>
            </a:extLst>
          </p:cNvPr>
          <p:cNvGrpSpPr/>
          <p:nvPr/>
        </p:nvGrpSpPr>
        <p:grpSpPr>
          <a:xfrm>
            <a:off x="1200307" y="3173196"/>
            <a:ext cx="1442663" cy="1867114"/>
            <a:chOff x="1984495" y="3087927"/>
            <a:chExt cx="1934282" cy="2489485"/>
          </a:xfrm>
        </p:grpSpPr>
        <p:sp>
          <p:nvSpPr>
            <p:cNvPr id="82" name="Arc 81">
              <a:extLst>
                <a:ext uri="{FF2B5EF4-FFF2-40B4-BE49-F238E27FC236}">
                  <a16:creationId xmlns:a16="http://schemas.microsoft.com/office/drawing/2014/main" id="{9FBF79C8-2289-44C2-ADED-80BA32099810}"/>
                </a:ext>
              </a:extLst>
            </p:cNvPr>
            <p:cNvSpPr/>
            <p:nvPr/>
          </p:nvSpPr>
          <p:spPr>
            <a:xfrm rot="10800000">
              <a:off x="2742709" y="3087927"/>
              <a:ext cx="1176068" cy="1176068"/>
            </a:xfrm>
            <a:prstGeom prst="arc">
              <a:avLst>
                <a:gd name="adj1" fmla="val 10895"/>
                <a:gd name="adj2" fmla="val 15969831"/>
              </a:avLst>
            </a:prstGeom>
            <a:ln w="381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410735D-61B2-47D9-B47C-ED1F3E1AA3F8}"/>
                </a:ext>
              </a:extLst>
            </p:cNvPr>
            <p:cNvCxnSpPr>
              <a:cxnSpLocks/>
            </p:cNvCxnSpPr>
            <p:nvPr/>
          </p:nvCxnSpPr>
          <p:spPr>
            <a:xfrm>
              <a:off x="1984495" y="3655936"/>
              <a:ext cx="758213" cy="263"/>
            </a:xfrm>
            <a:prstGeom prst="line">
              <a:avLst/>
            </a:prstGeom>
            <a:ln w="381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AE8FEF5-684F-4536-B67F-919BA5DB8A7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377062" y="4243473"/>
              <a:ext cx="0" cy="1333939"/>
            </a:xfrm>
            <a:prstGeom prst="line">
              <a:avLst/>
            </a:prstGeom>
            <a:ln w="38100">
              <a:solidFill>
                <a:schemeClr val="accent3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AE49B4C2-3877-4A69-A85D-CC9955035BFD}"/>
                </a:ext>
              </a:extLst>
            </p:cNvPr>
            <p:cNvSpPr/>
            <p:nvPr/>
          </p:nvSpPr>
          <p:spPr>
            <a:xfrm>
              <a:off x="2890432" y="3235650"/>
              <a:ext cx="880621" cy="880621"/>
            </a:xfrm>
            <a:prstGeom prst="ellipse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B316CC1-6A21-4FDF-AC74-A91FE9678DA2}"/>
              </a:ext>
            </a:extLst>
          </p:cNvPr>
          <p:cNvGrpSpPr/>
          <p:nvPr/>
        </p:nvGrpSpPr>
        <p:grpSpPr>
          <a:xfrm>
            <a:off x="0" y="2172545"/>
            <a:ext cx="1200308" cy="1867114"/>
            <a:chOff x="0" y="1753726"/>
            <a:chExt cx="1600410" cy="2489485"/>
          </a:xfrm>
        </p:grpSpPr>
        <p:sp>
          <p:nvSpPr>
            <p:cNvPr id="86" name="Arc 85">
              <a:extLst>
                <a:ext uri="{FF2B5EF4-FFF2-40B4-BE49-F238E27FC236}">
                  <a16:creationId xmlns:a16="http://schemas.microsoft.com/office/drawing/2014/main" id="{194216BA-23C7-4B75-9371-8F1E86CC5AF9}"/>
                </a:ext>
              </a:extLst>
            </p:cNvPr>
            <p:cNvSpPr/>
            <p:nvPr/>
          </p:nvSpPr>
          <p:spPr>
            <a:xfrm>
              <a:off x="424342" y="3067143"/>
              <a:ext cx="1176068" cy="1176068"/>
            </a:xfrm>
            <a:prstGeom prst="arc">
              <a:avLst>
                <a:gd name="adj1" fmla="val 15956854"/>
                <a:gd name="adj2" fmla="val 10891041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D026D09-7C0B-47CA-B4BA-9C07A19854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0" y="3655937"/>
              <a:ext cx="43863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1A721A02-ECD0-470D-98BD-2BE369FC2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057" y="1753726"/>
              <a:ext cx="0" cy="1333939"/>
            </a:xfrm>
            <a:prstGeom prst="line">
              <a:avLst/>
            </a:prstGeom>
            <a:ln w="38100"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BADE1FCC-E104-4FB8-8940-5F803201BC98}"/>
                </a:ext>
              </a:extLst>
            </p:cNvPr>
            <p:cNvSpPr/>
            <p:nvPr/>
          </p:nvSpPr>
          <p:spPr>
            <a:xfrm>
              <a:off x="572066" y="3214866"/>
              <a:ext cx="880621" cy="880621"/>
            </a:xfrm>
            <a:prstGeom prst="ellipse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141240C0-B3AA-4265-B60A-CCFE683A420A}"/>
              </a:ext>
            </a:extLst>
          </p:cNvPr>
          <p:cNvSpPr txBox="1"/>
          <p:nvPr/>
        </p:nvSpPr>
        <p:spPr>
          <a:xfrm>
            <a:off x="127826" y="1736541"/>
            <a:ext cx="119455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00" b="1" dirty="0">
                <a:solidFill>
                  <a:schemeClr val="bg1"/>
                </a:solidFill>
              </a:rPr>
              <a:t>Apr 2023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1E27434-9C6A-4C99-83C2-771920496372}"/>
              </a:ext>
            </a:extLst>
          </p:cNvPr>
          <p:cNvSpPr txBox="1"/>
          <p:nvPr/>
        </p:nvSpPr>
        <p:spPr>
          <a:xfrm>
            <a:off x="1641836" y="5086855"/>
            <a:ext cx="120898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00" b="1" dirty="0">
                <a:solidFill>
                  <a:schemeClr val="bg1"/>
                </a:solidFill>
              </a:rPr>
              <a:t>Dec 2023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42D1174-549A-4748-8DAE-E3BFCC871A64}"/>
              </a:ext>
            </a:extLst>
          </p:cNvPr>
          <p:cNvSpPr txBox="1"/>
          <p:nvPr/>
        </p:nvSpPr>
        <p:spPr>
          <a:xfrm>
            <a:off x="2939756" y="1736541"/>
            <a:ext cx="119455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00" b="1" dirty="0">
                <a:solidFill>
                  <a:schemeClr val="bg1"/>
                </a:solidFill>
              </a:rPr>
              <a:t>Apr 2024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9D1A21E-CEB9-4122-8305-43D73EEB2CB1}"/>
              </a:ext>
            </a:extLst>
          </p:cNvPr>
          <p:cNvSpPr txBox="1"/>
          <p:nvPr/>
        </p:nvSpPr>
        <p:spPr>
          <a:xfrm>
            <a:off x="4250157" y="5086071"/>
            <a:ext cx="120898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00" b="1" dirty="0">
                <a:solidFill>
                  <a:schemeClr val="bg1"/>
                </a:solidFill>
              </a:rPr>
              <a:t>Dec 2024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48372E1-4FB4-4124-A43A-4D8CEDBEB5CE}"/>
              </a:ext>
            </a:extLst>
          </p:cNvPr>
          <p:cNvSpPr txBox="1"/>
          <p:nvPr/>
        </p:nvSpPr>
        <p:spPr>
          <a:xfrm>
            <a:off x="5356101" y="1736541"/>
            <a:ext cx="123867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00" b="1" dirty="0">
                <a:solidFill>
                  <a:schemeClr val="bg1"/>
                </a:solidFill>
              </a:rPr>
              <a:t>Nov 2025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7706497-24F5-4AB7-8B52-51E46FFD5327}"/>
              </a:ext>
            </a:extLst>
          </p:cNvPr>
          <p:cNvGrpSpPr/>
          <p:nvPr/>
        </p:nvGrpSpPr>
        <p:grpSpPr>
          <a:xfrm>
            <a:off x="806542" y="2138481"/>
            <a:ext cx="1250488" cy="818209"/>
            <a:chOff x="1075389" y="1776888"/>
            <a:chExt cx="1667317" cy="1090945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798C018-FD79-48B4-A4BF-45283CB6DB28}"/>
                </a:ext>
              </a:extLst>
            </p:cNvPr>
            <p:cNvSpPr txBox="1"/>
            <p:nvPr/>
          </p:nvSpPr>
          <p:spPr>
            <a:xfrm>
              <a:off x="1075389" y="1776888"/>
              <a:ext cx="1509057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b="1" noProof="1">
                  <a:solidFill>
                    <a:schemeClr val="bg1"/>
                  </a:solidFill>
                </a:rPr>
                <a:t>HGDAVE</a:t>
              </a:r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BEB3456D-7C06-4E62-B1BD-D709489E2824}"/>
                </a:ext>
              </a:extLst>
            </p:cNvPr>
            <p:cNvCxnSpPr/>
            <p:nvPr/>
          </p:nvCxnSpPr>
          <p:spPr>
            <a:xfrm>
              <a:off x="1136650" y="2158920"/>
              <a:ext cx="140335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26A1962-EE12-4132-A041-4F0A8BDEB54B}"/>
                </a:ext>
              </a:extLst>
            </p:cNvPr>
            <p:cNvSpPr/>
            <p:nvPr/>
          </p:nvSpPr>
          <p:spPr>
            <a:xfrm>
              <a:off x="1075389" y="2190726"/>
              <a:ext cx="1667317" cy="677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noProof="1">
                  <a:solidFill>
                    <a:schemeClr val="bg1">
                      <a:lumMod val="75000"/>
                    </a:schemeClr>
                  </a:solidFill>
                </a:rPr>
                <a:t>Collect Network and Mavlink Sensor Data and publish paper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02D7944-BA1B-426A-8D84-486AF02C14B2}"/>
              </a:ext>
            </a:extLst>
          </p:cNvPr>
          <p:cNvGrpSpPr/>
          <p:nvPr/>
        </p:nvGrpSpPr>
        <p:grpSpPr>
          <a:xfrm>
            <a:off x="2323488" y="4152852"/>
            <a:ext cx="1250488" cy="956710"/>
            <a:chOff x="1075389" y="1776888"/>
            <a:chExt cx="1667317" cy="1275613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1AC0B15-799C-41C0-887A-4FB5DDF865F2}"/>
                </a:ext>
              </a:extLst>
            </p:cNvPr>
            <p:cNvSpPr txBox="1"/>
            <p:nvPr/>
          </p:nvSpPr>
          <p:spPr>
            <a:xfrm>
              <a:off x="1075390" y="1776888"/>
              <a:ext cx="1552309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b="1" noProof="1">
                  <a:solidFill>
                    <a:schemeClr val="bg1"/>
                  </a:solidFill>
                </a:rPr>
                <a:t>FineTune LLM</a:t>
              </a: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8266235-1F99-4704-AC74-2EE3E50AB05D}"/>
                </a:ext>
              </a:extLst>
            </p:cNvPr>
            <p:cNvCxnSpPr/>
            <p:nvPr/>
          </p:nvCxnSpPr>
          <p:spPr>
            <a:xfrm>
              <a:off x="1136650" y="2158920"/>
              <a:ext cx="1403350" cy="0"/>
            </a:xfrm>
            <a:prstGeom prst="line">
              <a:avLst/>
            </a:prstGeom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E1B6909-ED50-412E-A90C-6972B5935C73}"/>
                </a:ext>
              </a:extLst>
            </p:cNvPr>
            <p:cNvSpPr/>
            <p:nvPr/>
          </p:nvSpPr>
          <p:spPr>
            <a:xfrm>
              <a:off x="1075389" y="2190727"/>
              <a:ext cx="1667317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noProof="1">
                  <a:solidFill>
                    <a:schemeClr val="bg1">
                      <a:lumMod val="75000"/>
                    </a:schemeClr>
                  </a:solidFill>
                </a:rPr>
                <a:t>Fine tune timeseries based LLM foundation models and publish paper</a:t>
              </a:r>
              <a:endParaRPr lang="en-US" sz="825" noProof="1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7F8FD26-2334-4955-A073-55E72C385C26}"/>
              </a:ext>
            </a:extLst>
          </p:cNvPr>
          <p:cNvGrpSpPr/>
          <p:nvPr/>
        </p:nvGrpSpPr>
        <p:grpSpPr>
          <a:xfrm>
            <a:off x="3635768" y="2138481"/>
            <a:ext cx="1250488" cy="679710"/>
            <a:chOff x="1075389" y="1776888"/>
            <a:chExt cx="1667317" cy="906280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016033C-F33A-44BD-AE9D-C50327044AD1}"/>
                </a:ext>
              </a:extLst>
            </p:cNvPr>
            <p:cNvSpPr txBox="1"/>
            <p:nvPr/>
          </p:nvSpPr>
          <p:spPr>
            <a:xfrm>
              <a:off x="1075389" y="1776888"/>
              <a:ext cx="1509057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b="1" noProof="1">
                  <a:solidFill>
                    <a:schemeClr val="bg1"/>
                  </a:solidFill>
                </a:rPr>
                <a:t>NetGPT</a:t>
              </a:r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2A984A77-0C9A-4FAA-B5FF-6939935D7686}"/>
                </a:ext>
              </a:extLst>
            </p:cNvPr>
            <p:cNvCxnSpPr/>
            <p:nvPr/>
          </p:nvCxnSpPr>
          <p:spPr>
            <a:xfrm>
              <a:off x="1136650" y="2158920"/>
              <a:ext cx="1403350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E72DBBF-F08B-40C7-A2FC-F857E64D2F19}"/>
                </a:ext>
              </a:extLst>
            </p:cNvPr>
            <p:cNvSpPr/>
            <p:nvPr/>
          </p:nvSpPr>
          <p:spPr>
            <a:xfrm>
              <a:off x="1075389" y="2190726"/>
              <a:ext cx="1667317" cy="4924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noProof="1">
                  <a:solidFill>
                    <a:schemeClr val="bg1">
                      <a:lumMod val="75000"/>
                    </a:schemeClr>
                  </a:solidFill>
                </a:rPr>
                <a:t>Design Net-GPT using LLM and publish paper</a:t>
              </a:r>
              <a:endParaRPr lang="en-US" sz="825" noProof="1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7D868DD-E3C4-4170-8357-7DA5FF4ABD06}"/>
              </a:ext>
            </a:extLst>
          </p:cNvPr>
          <p:cNvGrpSpPr/>
          <p:nvPr/>
        </p:nvGrpSpPr>
        <p:grpSpPr>
          <a:xfrm>
            <a:off x="4997912" y="4168241"/>
            <a:ext cx="1250488" cy="818209"/>
            <a:chOff x="1075389" y="1776888"/>
            <a:chExt cx="1667317" cy="1090945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3F67EB71-5B75-4833-8766-8BEC9C00F2A3}"/>
                </a:ext>
              </a:extLst>
            </p:cNvPr>
            <p:cNvSpPr txBox="1"/>
            <p:nvPr/>
          </p:nvSpPr>
          <p:spPr>
            <a:xfrm>
              <a:off x="1075389" y="1776888"/>
              <a:ext cx="1509057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b="1" noProof="1">
                  <a:solidFill>
                    <a:schemeClr val="bg1"/>
                  </a:solidFill>
                </a:rPr>
                <a:t>Aero-LLM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DCDC8057-0F79-4549-BE08-1BDC54967624}"/>
                </a:ext>
              </a:extLst>
            </p:cNvPr>
            <p:cNvCxnSpPr/>
            <p:nvPr/>
          </p:nvCxnSpPr>
          <p:spPr>
            <a:xfrm>
              <a:off x="1136650" y="2158920"/>
              <a:ext cx="1403350" cy="0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B8238BE-5C03-4A90-84FB-5319BBB4823C}"/>
                </a:ext>
              </a:extLst>
            </p:cNvPr>
            <p:cNvSpPr/>
            <p:nvPr/>
          </p:nvSpPr>
          <p:spPr>
            <a:xfrm>
              <a:off x="1075389" y="2190726"/>
              <a:ext cx="1667317" cy="677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noProof="1">
                  <a:solidFill>
                    <a:schemeClr val="bg1">
                      <a:lumMod val="75000"/>
                    </a:schemeClr>
                  </a:solidFill>
                </a:rPr>
                <a:t>Design Aero-LLM distributed framework and publish paper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26EC4E2-6DE5-4199-BDCC-A42C4AC8BFBC}"/>
              </a:ext>
            </a:extLst>
          </p:cNvPr>
          <p:cNvGrpSpPr/>
          <p:nvPr/>
        </p:nvGrpSpPr>
        <p:grpSpPr>
          <a:xfrm>
            <a:off x="6071105" y="2170293"/>
            <a:ext cx="1544525" cy="679710"/>
            <a:chOff x="1075389" y="1776888"/>
            <a:chExt cx="2059366" cy="906280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25816D2B-B685-4168-B46B-E086D3407DF1}"/>
                </a:ext>
              </a:extLst>
            </p:cNvPr>
            <p:cNvSpPr txBox="1"/>
            <p:nvPr/>
          </p:nvSpPr>
          <p:spPr>
            <a:xfrm>
              <a:off x="1075389" y="1776888"/>
              <a:ext cx="2059366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b="1" noProof="1">
                  <a:solidFill>
                    <a:schemeClr val="bg1"/>
                  </a:solidFill>
                </a:rPr>
                <a:t>Dissertion Propoal</a:t>
              </a:r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3111C83A-9559-4278-95F4-27CC6D9C8478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0" y="2158920"/>
              <a:ext cx="1800731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E98921E-BC0F-4096-B55D-CC59922F96C3}"/>
                </a:ext>
              </a:extLst>
            </p:cNvPr>
            <p:cNvSpPr/>
            <p:nvPr/>
          </p:nvSpPr>
          <p:spPr>
            <a:xfrm>
              <a:off x="1075389" y="2190726"/>
              <a:ext cx="1667317" cy="4924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noProof="1">
                  <a:solidFill>
                    <a:schemeClr val="bg1">
                      <a:lumMod val="75000"/>
                    </a:schemeClr>
                  </a:solidFill>
                </a:rPr>
                <a:t>Proposal Defense Presentation</a:t>
              </a:r>
            </a:p>
          </p:txBody>
        </p:sp>
      </p:grpSp>
      <p:pic>
        <p:nvPicPr>
          <p:cNvPr id="5" name="Graphic 4" descr="Rocket">
            <a:extLst>
              <a:ext uri="{FF2B5EF4-FFF2-40B4-BE49-F238E27FC236}">
                <a16:creationId xmlns:a16="http://schemas.microsoft.com/office/drawing/2014/main" id="{A0323E74-A488-4A5D-9025-290835DB60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500" y="3354850"/>
            <a:ext cx="487565" cy="4875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F58EA162-A406-4BB5-A570-E636575FE2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7805" y="3370438"/>
            <a:ext cx="487565" cy="487565"/>
          </a:xfrm>
          <a:prstGeom prst="rect">
            <a:avLst/>
          </a:prstGeom>
        </p:spPr>
      </p:pic>
      <p:pic>
        <p:nvPicPr>
          <p:cNvPr id="9" name="Graphic 8" descr="Downward trend">
            <a:extLst>
              <a:ext uri="{FF2B5EF4-FFF2-40B4-BE49-F238E27FC236}">
                <a16:creationId xmlns:a16="http://schemas.microsoft.com/office/drawing/2014/main" id="{76AD0821-D920-41AB-A8A3-E6EDC1E8B3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5303" y="3370438"/>
            <a:ext cx="487565" cy="4875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Graphic 10" descr="Gears">
            <a:extLst>
              <a:ext uri="{FF2B5EF4-FFF2-40B4-BE49-F238E27FC236}">
                <a16:creationId xmlns:a16="http://schemas.microsoft.com/office/drawing/2014/main" id="{BC0AB16D-0A42-4CD5-9EC6-F8938F9034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27990" y="3354850"/>
            <a:ext cx="487565" cy="487565"/>
          </a:xfrm>
          <a:prstGeom prst="rect">
            <a:avLst/>
          </a:prstGeom>
        </p:spPr>
      </p:pic>
      <p:pic>
        <p:nvPicPr>
          <p:cNvPr id="13" name="Graphic 12" descr="Checklist with solid fill">
            <a:extLst>
              <a:ext uri="{FF2B5EF4-FFF2-40B4-BE49-F238E27FC236}">
                <a16:creationId xmlns:a16="http://schemas.microsoft.com/office/drawing/2014/main" id="{2A8EE19A-382E-4D1A-A434-EA593651517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766391" y="3354850"/>
            <a:ext cx="487565" cy="487565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60688648-A6E6-CEE2-9078-B4FB0C370729}"/>
              </a:ext>
            </a:extLst>
          </p:cNvPr>
          <p:cNvGrpSpPr/>
          <p:nvPr/>
        </p:nvGrpSpPr>
        <p:grpSpPr>
          <a:xfrm>
            <a:off x="6477000" y="3124200"/>
            <a:ext cx="1247313" cy="1867114"/>
            <a:chOff x="6877143" y="3087927"/>
            <a:chExt cx="1663084" cy="2489485"/>
          </a:xfrm>
        </p:grpSpPr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65A939DF-5B1B-8978-ADDD-1B3859D81A84}"/>
                </a:ext>
              </a:extLst>
            </p:cNvPr>
            <p:cNvSpPr/>
            <p:nvPr/>
          </p:nvSpPr>
          <p:spPr>
            <a:xfrm rot="10800000">
              <a:off x="7364159" y="3087927"/>
              <a:ext cx="1176068" cy="1176068"/>
            </a:xfrm>
            <a:prstGeom prst="arc">
              <a:avLst>
                <a:gd name="adj1" fmla="val 10895"/>
                <a:gd name="adj2" fmla="val 15969831"/>
              </a:avLst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BDA44C-3BA4-0425-8733-8C1EF0C1D933}"/>
                </a:ext>
              </a:extLst>
            </p:cNvPr>
            <p:cNvCxnSpPr>
              <a:cxnSpLocks/>
            </p:cNvCxnSpPr>
            <p:nvPr/>
          </p:nvCxnSpPr>
          <p:spPr>
            <a:xfrm>
              <a:off x="6877143" y="3655936"/>
              <a:ext cx="487015" cy="263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9FED472-5E77-C949-D55E-268DF657D66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998512" y="4243473"/>
              <a:ext cx="0" cy="1333939"/>
            </a:xfrm>
            <a:prstGeom prst="line">
              <a:avLst/>
            </a:prstGeom>
            <a:ln w="38100">
              <a:solidFill>
                <a:srgbClr val="00B05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7EE701D-681E-DCF6-C0EC-4C68044F2601}"/>
                </a:ext>
              </a:extLst>
            </p:cNvPr>
            <p:cNvSpPr/>
            <p:nvPr/>
          </p:nvSpPr>
          <p:spPr>
            <a:xfrm>
              <a:off x="7511883" y="3235650"/>
              <a:ext cx="880621" cy="880621"/>
            </a:xfrm>
            <a:prstGeom prst="ellipse">
              <a:avLst/>
            </a:prstGeom>
            <a:gradFill>
              <a:gsLst>
                <a:gs pos="0">
                  <a:srgbClr val="00B050"/>
                </a:gs>
                <a:gs pos="87000">
                  <a:srgbClr val="00B050"/>
                </a:gs>
                <a:gs pos="80000">
                  <a:srgbClr val="00B050"/>
                </a:gs>
                <a:gs pos="100000">
                  <a:srgbClr val="00B050"/>
                </a:gs>
              </a:gsLst>
            </a:gradFill>
            <a:ln>
              <a:solidFill>
                <a:srgbClr val="00B050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F8569C1-F3A8-DE80-45BB-D4DDE29A0241}"/>
              </a:ext>
            </a:extLst>
          </p:cNvPr>
          <p:cNvSpPr txBox="1"/>
          <p:nvPr/>
        </p:nvSpPr>
        <p:spPr>
          <a:xfrm>
            <a:off x="6714357" y="5037075"/>
            <a:ext cx="120898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00" b="1" dirty="0">
                <a:solidFill>
                  <a:schemeClr val="bg1"/>
                </a:solidFill>
              </a:rPr>
              <a:t>Dec 2025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039D005-3EAD-B027-3B8A-F160F1FAA027}"/>
              </a:ext>
            </a:extLst>
          </p:cNvPr>
          <p:cNvGrpSpPr/>
          <p:nvPr/>
        </p:nvGrpSpPr>
        <p:grpSpPr>
          <a:xfrm>
            <a:off x="7315199" y="4119244"/>
            <a:ext cx="1834286" cy="541211"/>
            <a:chOff x="941850" y="1776888"/>
            <a:chExt cx="1667318" cy="721615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9D8E369-7D76-B7A6-ECE6-EDCAE151E380}"/>
                </a:ext>
              </a:extLst>
            </p:cNvPr>
            <p:cNvSpPr txBox="1"/>
            <p:nvPr/>
          </p:nvSpPr>
          <p:spPr>
            <a:xfrm>
              <a:off x="941850" y="1776888"/>
              <a:ext cx="150905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b="1" noProof="1">
                  <a:solidFill>
                    <a:schemeClr val="bg1"/>
                  </a:solidFill>
                </a:rPr>
                <a:t>Dissertation Defense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1BF8707-FCE7-2A37-3446-713C3E4744CB}"/>
                </a:ext>
              </a:extLst>
            </p:cNvPr>
            <p:cNvCxnSpPr/>
            <p:nvPr/>
          </p:nvCxnSpPr>
          <p:spPr>
            <a:xfrm>
              <a:off x="1011115" y="2158920"/>
              <a:ext cx="1403350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DB3CF2C-6AEF-C1E2-372C-FF977C6EA0C2}"/>
                </a:ext>
              </a:extLst>
            </p:cNvPr>
            <p:cNvSpPr/>
            <p:nvPr/>
          </p:nvSpPr>
          <p:spPr>
            <a:xfrm>
              <a:off x="941851" y="2190727"/>
              <a:ext cx="1667317" cy="307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noProof="1">
                  <a:solidFill>
                    <a:schemeClr val="bg1">
                      <a:lumMod val="75000"/>
                    </a:schemeClr>
                  </a:solidFill>
                </a:rPr>
                <a:t>Defend Dissertation</a:t>
              </a:r>
            </a:p>
          </p:txBody>
        </p:sp>
      </p:grpSp>
      <p:pic>
        <p:nvPicPr>
          <p:cNvPr id="48" name="Graphic 47" descr="Medal">
            <a:extLst>
              <a:ext uri="{FF2B5EF4-FFF2-40B4-BE49-F238E27FC236}">
                <a16:creationId xmlns:a16="http://schemas.microsoft.com/office/drawing/2014/main" id="{517E7244-ED0D-71DD-8068-E61AE76FFF2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30591" y="3305854"/>
            <a:ext cx="487565" cy="487565"/>
          </a:xfrm>
          <a:prstGeom prst="rect">
            <a:avLst/>
          </a:prstGeom>
        </p:spPr>
      </p:pic>
      <p:pic>
        <p:nvPicPr>
          <p:cNvPr id="61" name="Graphic 60" descr="Medal">
            <a:extLst>
              <a:ext uri="{FF2B5EF4-FFF2-40B4-BE49-F238E27FC236}">
                <a16:creationId xmlns:a16="http://schemas.microsoft.com/office/drawing/2014/main" id="{8968989F-C13C-F7CE-9B82-12EFCE797C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56235" y="3322435"/>
            <a:ext cx="487565" cy="48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401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EDA2C-470A-064D-3E01-9813212D4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D38AC-4F89-F357-E666-DF7CF00D7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Thank you for your attention.</a:t>
            </a:r>
          </a:p>
          <a:p>
            <a:pPr marL="0" indent="0">
              <a:buNone/>
            </a:pPr>
            <a:r>
              <a:rPr lang="en-US" dirty="0"/>
              <a:t>- Questions?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3255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E23-5D5B-096A-3882-CFF8CC5FA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69567-6488-AA5F-9A9E-5517E82E0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Haixu</a:t>
            </a:r>
            <a:r>
              <a:rPr lang="en-US" dirty="0"/>
              <a:t> Wu, undefined., et al, "</a:t>
            </a:r>
            <a:r>
              <a:rPr lang="en-US" dirty="0" err="1"/>
              <a:t>TimesNet</a:t>
            </a:r>
            <a:r>
              <a:rPr lang="en-US" dirty="0"/>
              <a:t>: Temporal 2D-Variation Modeling for General Time Series Analysis," in International Conference on Learning Representations, 2023.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Jin, M., et al, "Time-LLM: Time series forecasting by reprogramming large language models," in International Conference on Learning Representations (ICLR), 2024.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X. Liu, undefined. H. Ning, undefined. Y. Xu. "A Survey on Industrial Internet of Things: A Cyber-Physical Systems Perspective," in IEEE Internet of Things Journal, vol. 6, no. 5, pp. 855-869, 2024.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S. Gupta, undefined. P. Kumar. "Enhancing CPS Architectures with SOA for Industry 4.0 Enterprise Applications," in IEEE Transactions on Industrial Informatics, vol. 10, no. 3, pp. 567-580, 2024.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R. Patel, undefined. M. Gupta. "AI and IoT in Industry 4.0: Trends and Applications," in Springer AI and Industry Journal, vol. 15, no. 4, pp. 210-230, 2024.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M. Zhang, undefined. Q. Wei. "A Systematic Review of Data Quality in CPS and IoT for Industry 4.0," in International Journal of Data Quality, vol. 8, no. 2, pp. 123-145, 2024.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Shumaila Javaid, undefined. Nasir Saeed, undefined. Bin He, "Large Language Models for UAVs: Current State and Pathways to the Future," 2024.</a:t>
            </a:r>
          </a:p>
        </p:txBody>
      </p:sp>
    </p:spTree>
    <p:extLst>
      <p:ext uri="{BB962C8B-B14F-4D97-AF65-F5344CB8AC3E}">
        <p14:creationId xmlns:p14="http://schemas.microsoft.com/office/powerpoint/2010/main" val="38935263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2598E-62DD-8BA5-6109-22E9A4FF2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PX4 Autopilot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F5075-FD95-761A-3062-DA9342C06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r>
              <a:rPr lang="en-US" dirty="0"/>
              <a:t>System Architecture</a:t>
            </a:r>
          </a:p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B73098-0491-BF53-9AC8-1144EAA0C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56081" y="1752601"/>
            <a:ext cx="5811519" cy="419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823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BFEAF-8F85-1004-5658-20226389C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Multicopter</a:t>
            </a:r>
            <a:r>
              <a:rPr lang="en-US" dirty="0"/>
              <a:t> Control Architecture</a:t>
            </a:r>
          </a:p>
        </p:txBody>
      </p:sp>
      <p:pic>
        <p:nvPicPr>
          <p:cNvPr id="11" name="Content Placeholder 10" descr="A diagram of a machine&#10;&#10;AI-generated content may be incorrect.">
            <a:extLst>
              <a:ext uri="{FF2B5EF4-FFF2-40B4-BE49-F238E27FC236}">
                <a16:creationId xmlns:a16="http://schemas.microsoft.com/office/drawing/2014/main" id="{EF999CAA-51DB-5F68-2CAB-8BC700789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438952"/>
            <a:ext cx="8229600" cy="2848459"/>
          </a:xfrm>
        </p:spPr>
      </p:pic>
    </p:spTree>
    <p:extLst>
      <p:ext uri="{BB962C8B-B14F-4D97-AF65-F5344CB8AC3E}">
        <p14:creationId xmlns:p14="http://schemas.microsoft.com/office/powerpoint/2010/main" val="21098575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A6AE4-224A-4A3D-3452-711058863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 and Companion Computer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772949-1710-3400-1310-28ADCBDFB9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1524000"/>
            <a:ext cx="6579220" cy="4309281"/>
          </a:xfrm>
        </p:spPr>
      </p:pic>
    </p:spTree>
    <p:extLst>
      <p:ext uri="{BB962C8B-B14F-4D97-AF65-F5344CB8AC3E}">
        <p14:creationId xmlns:p14="http://schemas.microsoft.com/office/powerpoint/2010/main" val="27371172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8AD10-BE73-709C-F7DC-E44E9E4C3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 -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27B20-45F2-38C4-BDB9-DAE8FFB0D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Ubuntu 22.04</a:t>
            </a:r>
          </a:p>
          <a:p>
            <a:r>
              <a:rPr lang="en-US" dirty="0"/>
              <a:t>Python 3.12</a:t>
            </a:r>
          </a:p>
          <a:p>
            <a:r>
              <a:rPr lang="en-US" dirty="0" err="1"/>
              <a:t>PyTorch</a:t>
            </a:r>
            <a:endParaRPr lang="en-US" dirty="0"/>
          </a:p>
          <a:p>
            <a:r>
              <a:rPr lang="en-US" dirty="0"/>
              <a:t>Nvidia RTX 4090 GPU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2578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E5AF4-FEB2-5800-463D-1A700E11B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99E49-3397-DC9A-DAFF-D1CD1BF70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FineTuning</a:t>
            </a:r>
            <a:r>
              <a:rPr lang="en-US" dirty="0"/>
              <a:t> code in GitHub</a:t>
            </a:r>
          </a:p>
          <a:p>
            <a:pPr lvl="1"/>
            <a:r>
              <a:rPr lang="en-US" dirty="0">
                <a:hlinkClick r:id="rId2"/>
              </a:rPr>
              <a:t>https://github.com/dbalki/px4.git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https://github.com/dbalki/handshakeGPT.git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333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FFFFFF"/>
      </a:dk1>
      <a:lt1>
        <a:sysClr val="window" lastClr="FFFFFF"/>
      </a:lt1>
      <a:dk2>
        <a:srgbClr val="FFFFFF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17262</TotalTime>
  <Words>2355</Words>
  <Application>Microsoft Office PowerPoint</Application>
  <PresentationFormat>On-screen Show (4:3)</PresentationFormat>
  <Paragraphs>315</Paragraphs>
  <Slides>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Aptos</vt:lpstr>
      <vt:lpstr>Arial</vt:lpstr>
      <vt:lpstr>Calibri</vt:lpstr>
      <vt:lpstr>Inter</vt:lpstr>
      <vt:lpstr>Wingdings</vt:lpstr>
      <vt:lpstr>Office Theme</vt:lpstr>
      <vt:lpstr>Leveraging LLMs for Adaptive and Secure UAV Control</vt:lpstr>
      <vt:lpstr>Outline</vt:lpstr>
      <vt:lpstr>Acknowledgements</vt:lpstr>
      <vt:lpstr>Introduction and Background</vt:lpstr>
      <vt:lpstr>UAV</vt:lpstr>
      <vt:lpstr>UAV Flight Management Systems</vt:lpstr>
      <vt:lpstr>Control Mechanisms</vt:lpstr>
      <vt:lpstr>Challenges</vt:lpstr>
      <vt:lpstr>Large Language Models</vt:lpstr>
      <vt:lpstr>State of the Art</vt:lpstr>
      <vt:lpstr>Literature Review</vt:lpstr>
      <vt:lpstr>Research Gap</vt:lpstr>
      <vt:lpstr>UAV Control using LLMs</vt:lpstr>
      <vt:lpstr>Research Problems</vt:lpstr>
      <vt:lpstr>Research Objectives</vt:lpstr>
      <vt:lpstr>Publications</vt:lpstr>
      <vt:lpstr>Contributions</vt:lpstr>
      <vt:lpstr>Approach</vt:lpstr>
      <vt:lpstr>Methodology – Data Collection</vt:lpstr>
      <vt:lpstr>Methodology - Simulation</vt:lpstr>
      <vt:lpstr>Methodology - SITL</vt:lpstr>
      <vt:lpstr>Methodology - HITL</vt:lpstr>
      <vt:lpstr>Methodology – Manual Hacking</vt:lpstr>
      <vt:lpstr>Methodology - Fuzzing</vt:lpstr>
      <vt:lpstr>LLM - Finetuning</vt:lpstr>
      <vt:lpstr>System Architecture</vt:lpstr>
      <vt:lpstr>System Design</vt:lpstr>
      <vt:lpstr>System Design</vt:lpstr>
      <vt:lpstr>System Design</vt:lpstr>
      <vt:lpstr>System Design</vt:lpstr>
      <vt:lpstr>Threat Model</vt:lpstr>
      <vt:lpstr>Threat Model</vt:lpstr>
      <vt:lpstr>Fine Tuning</vt:lpstr>
      <vt:lpstr>Fine Tuning</vt:lpstr>
      <vt:lpstr>Fine Tuning - TimesNet</vt:lpstr>
      <vt:lpstr>Fine Tuning – Time-LLM</vt:lpstr>
      <vt:lpstr>Parameters for Fine Tuning</vt:lpstr>
      <vt:lpstr>Metrics</vt:lpstr>
      <vt:lpstr>Metrics</vt:lpstr>
      <vt:lpstr>Metrics</vt:lpstr>
      <vt:lpstr>Framework Design</vt:lpstr>
      <vt:lpstr>Approach</vt:lpstr>
      <vt:lpstr>Current &amp; Expected Outcomes</vt:lpstr>
      <vt:lpstr>Outcomes - Malicious UAV Model (Net-GPT)</vt:lpstr>
      <vt:lpstr>Timeline – Roadmap</vt:lpstr>
      <vt:lpstr>Q&amp;A</vt:lpstr>
      <vt:lpstr>References</vt:lpstr>
      <vt:lpstr>PX4 Autopilot</vt:lpstr>
      <vt:lpstr>Multicopter Control Architecture</vt:lpstr>
      <vt:lpstr>FC and Companion Computer</vt:lpstr>
      <vt:lpstr>Fine Tuning - Implementation</vt:lpstr>
      <vt:lpstr>Code Repo</vt:lpstr>
    </vt:vector>
  </TitlesOfParts>
  <Company>SECS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emily</dc:creator>
  <cp:lastModifiedBy>Balakrishnan Dharmalingam</cp:lastModifiedBy>
  <cp:revision>150</cp:revision>
  <dcterms:created xsi:type="dcterms:W3CDTF">2011-10-19T18:58:37Z</dcterms:created>
  <dcterms:modified xsi:type="dcterms:W3CDTF">2025-11-08T18:02:19Z</dcterms:modified>
</cp:coreProperties>
</file>